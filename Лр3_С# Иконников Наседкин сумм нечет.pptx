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9" r:id="rId2"/>
    <p:sldId id="473" r:id="rId3"/>
    <p:sldId id="258" r:id="rId4"/>
    <p:sldId id="485" r:id="rId5"/>
    <p:sldId id="483" r:id="rId6"/>
    <p:sldId id="486" r:id="rId7"/>
    <p:sldId id="474" r:id="rId8"/>
    <p:sldId id="487" r:id="rId9"/>
    <p:sldId id="488" r:id="rId10"/>
    <p:sldId id="489" r:id="rId11"/>
    <p:sldId id="490" r:id="rId12"/>
    <p:sldId id="480" r:id="rId13"/>
    <p:sldId id="48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258"/>
            <p14:sldId id="485"/>
            <p14:sldId id="483"/>
            <p14:sldId id="486"/>
            <p14:sldId id="474"/>
            <p14:sldId id="487"/>
            <p14:sldId id="488"/>
            <p14:sldId id="489"/>
            <p14:sldId id="490"/>
            <p14:sldId id="480"/>
            <p14:sldId id="4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6" autoAdjust="0"/>
    <p:restoredTop sz="94651" autoAdjust="0"/>
  </p:normalViewPr>
  <p:slideViewPr>
    <p:cSldViewPr snapToGrid="0">
      <p:cViewPr>
        <p:scale>
          <a:sx n="125" d="100"/>
          <a:sy n="125" d="100"/>
        </p:scale>
        <p:origin x="162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42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962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267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8D53A-05F5-42E3-9248-1C9A922B0D7D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5BF81-30EC-425C-9C10-F4F3CBC90A9B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6FA4A-AA55-48B9-927A-F42E01105DBF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D9862-AB45-4213-9098-004B8055FBF0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22C65-2965-4390-B318-516658698D26}" type="datetime1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CF804-77FA-47D1-B338-5356710F14E7}" type="datetime1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0962A-0F3E-4571-BE74-EAE82BBCA4D4}" type="datetime1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0F18B-B19E-42B8-9D9E-101535B049A4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D81C-426E-4E9E-9390-F0B26C742F84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7F776-1599-49BC-ACD6-65A87CD34868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D979-18FC-4FF6-ABF9-7BDD1129789B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F131EB-79B3-4D7C-8CDF-4C3C6A8D1C28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2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3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Иконников Илья Сергеевич и Наседкин Тимофей Филиппович,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д.т.н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</a:t>
            </a:r>
            <a:r>
              <a:rPr lang="ru-RU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к.т.н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748145" y="1243031"/>
            <a:ext cx="42893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Исходная программ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3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Программа на С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- 4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ILSpy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5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-6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449263" indent="-449263">
              <a:buAutoNum type="arabicPeriod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.NET Reflector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7-8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Сравнение – 9-11 стр.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FontTx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Расчет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12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49263" indent="-449263">
              <a:buFontTx/>
              <a:buAutoNum type="arabicPeriod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Выводы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13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стр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342900" indent="-342900">
              <a:buFontTx/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25780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Исходная программа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DFCA2-4BEA-4CC8-8B28-81CA3AC49A27}"/>
              </a:ext>
            </a:extLst>
          </p:cNvPr>
          <p:cNvSpPr txBox="1"/>
          <p:nvPr/>
        </p:nvSpPr>
        <p:spPr>
          <a:xfrm>
            <a:off x="4819633" y="5781580"/>
            <a:ext cx="3574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Исходный код на С++</a:t>
            </a:r>
          </a:p>
          <a:p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FF25AD4-A2D2-BE61-2E44-DEDCDC61F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6" y="1519618"/>
            <a:ext cx="6810747" cy="3867236"/>
          </a:xfrm>
        </p:spPr>
      </p:pic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6BF7C4-E4DD-48B8-AC1F-56418935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AE61FC9-4278-4C7E-B894-D790F73AFD74}"/>
              </a:ext>
            </a:extLst>
          </p:cNvPr>
          <p:cNvSpPr txBox="1">
            <a:spLocks/>
          </p:cNvSpPr>
          <p:nvPr/>
        </p:nvSpPr>
        <p:spPr>
          <a:xfrm>
            <a:off x="241539" y="365126"/>
            <a:ext cx="6342141" cy="315947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Программа на языке С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#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, переведённая с языка С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++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при помощи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AI code converter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7C28DF-83B6-BBB1-4883-AE7EBDAC4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742" y="1433005"/>
            <a:ext cx="7002515" cy="46109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9C650A-654B-7E08-2617-257C6307CD52}"/>
              </a:ext>
            </a:extLst>
          </p:cNvPr>
          <p:cNvSpPr txBox="1"/>
          <p:nvPr/>
        </p:nvSpPr>
        <p:spPr>
          <a:xfrm>
            <a:off x="4293326" y="6015493"/>
            <a:ext cx="3605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Конвертированный код на язык </a:t>
            </a:r>
            <a:r>
              <a:rPr lang="en-US" dirty="0"/>
              <a:t>C#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5755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0526" y="319605"/>
            <a:ext cx="10515600" cy="640714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ILSpy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C630-070F-4819-ACFA-E5C7D457FC78}"/>
              </a:ext>
            </a:extLst>
          </p:cNvPr>
          <p:cNvSpPr txBox="1"/>
          <p:nvPr/>
        </p:nvSpPr>
        <p:spPr>
          <a:xfrm>
            <a:off x="3320754" y="6242618"/>
            <a:ext cx="6823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Ассемблерный листинг</a:t>
            </a:r>
            <a:r>
              <a:rPr lang="en-US" dirty="0"/>
              <a:t> </a:t>
            </a:r>
            <a:r>
              <a:rPr lang="ru-RU" dirty="0"/>
              <a:t> – дизассемблированный код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DFCA2-4BEA-4CC8-8B28-81CA3AC49A27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393AF4B-B1A8-1720-0A78-357ABAA8B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8F5073-567A-A503-FBA9-A3606146E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78" y="1069844"/>
            <a:ext cx="5250879" cy="523067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FCA6C1-2402-CDBB-D5FA-91F74E342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326" y="1096116"/>
            <a:ext cx="5434444" cy="520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0BEC60F-56D6-9AEE-D9B6-B2795BF11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56F443-4237-7C8F-4E97-D9CB5AE11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15E23EF-A18E-CC98-3C3C-9F2FD32F9907}"/>
              </a:ext>
            </a:extLst>
          </p:cNvPr>
          <p:cNvSpPr txBox="1">
            <a:spLocks/>
          </p:cNvSpPr>
          <p:nvPr/>
        </p:nvSpPr>
        <p:spPr>
          <a:xfrm>
            <a:off x="838200" y="463209"/>
            <a:ext cx="10515600" cy="6407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ILSpy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80F74B8-0610-6DAB-C5EF-1BBB6A0EF8B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3F7EB-BA22-780C-4F56-9606A0A0CFB6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426A6-CF97-9A55-1426-863377485058}"/>
              </a:ext>
            </a:extLst>
          </p:cNvPr>
          <p:cNvSpPr txBox="1"/>
          <p:nvPr/>
        </p:nvSpPr>
        <p:spPr>
          <a:xfrm>
            <a:off x="4424902" y="6251568"/>
            <a:ext cx="6094674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Декомпилированный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c#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код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BE28ECE-82C2-414A-F981-CC9E44FC8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43" y="1173645"/>
            <a:ext cx="9980713" cy="50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36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.NET Reflector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C0D50B-034F-43C6-9164-79FCB844C4DD}"/>
              </a:ext>
            </a:extLst>
          </p:cNvPr>
          <p:cNvSpPr txBox="1"/>
          <p:nvPr/>
        </p:nvSpPr>
        <p:spPr>
          <a:xfrm>
            <a:off x="482138" y="5975515"/>
            <a:ext cx="5719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Ассемблерный листинг – дизассемблированный код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A3692-C78E-49E4-B26F-444CFCEB932E}"/>
              </a:ext>
            </a:extLst>
          </p:cNvPr>
          <p:cNvSpPr txBox="1"/>
          <p:nvPr/>
        </p:nvSpPr>
        <p:spPr>
          <a:xfrm>
            <a:off x="7215447" y="445562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5E522BC-D18A-E77B-81C2-558CDC3BE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13" y="4824954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207D96-89CC-B539-F59F-3D0F8B619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13" y="961932"/>
            <a:ext cx="5719157" cy="538291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B83889-DB63-CCF6-BD57-8AF035F2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810" y="1010105"/>
            <a:ext cx="5129452" cy="487613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7F450C6-6936-A066-93F5-957EAF989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810" y="5887945"/>
            <a:ext cx="4796443" cy="97005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AB7BDE9-932F-3237-4088-ED978CA4BF9C}"/>
              </a:ext>
            </a:extLst>
          </p:cNvPr>
          <p:cNvSpPr/>
          <p:nvPr/>
        </p:nvSpPr>
        <p:spPr>
          <a:xfrm>
            <a:off x="421373" y="6372972"/>
            <a:ext cx="568777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dirty="0">
                <a:ln w="0"/>
                <a:latin typeface="Aptos" panose="020B0004020202020204" pitchFamily="34" charset="0"/>
              </a:rPr>
              <a:t>Ассемблерный листинг – дизассемблированный код</a:t>
            </a:r>
            <a:endParaRPr lang="ru-RU" b="0" cap="none" spc="0" dirty="0">
              <a:ln w="0"/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4EB6E4-091B-3BC1-F4E1-10116725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B0CEA76-DF7A-5353-A352-14A7F251D21D}"/>
              </a:ext>
            </a:extLst>
          </p:cNvPr>
          <p:cNvSpPr txBox="1">
            <a:spLocks/>
          </p:cNvSpPr>
          <p:nvPr/>
        </p:nvSpPr>
        <p:spPr>
          <a:xfrm>
            <a:off x="838199" y="443251"/>
            <a:ext cx="10515600" cy="800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.NET Reflector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A5C137A9-67C1-0515-4230-82A6D0F5985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70A17-5F2A-D238-0328-A2707414D5E1}"/>
              </a:ext>
            </a:extLst>
          </p:cNvPr>
          <p:cNvSpPr txBox="1"/>
          <p:nvPr/>
        </p:nvSpPr>
        <p:spPr>
          <a:xfrm>
            <a:off x="4607420" y="6127234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Декомпилированный</a:t>
            </a:r>
            <a:r>
              <a:rPr lang="ru-RU" dirty="0"/>
              <a:t> С</a:t>
            </a:r>
            <a:r>
              <a:rPr lang="en-US" dirty="0"/>
              <a:t># </a:t>
            </a:r>
            <a:r>
              <a:rPr lang="ru-RU" dirty="0"/>
              <a:t>код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5803DF6-44E7-59FA-D826-B5AEA8EFB9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83" t="4493" r="31557" b="34655"/>
          <a:stretch/>
        </p:blipFill>
        <p:spPr bwMode="auto">
          <a:xfrm>
            <a:off x="4551015" y="1300707"/>
            <a:ext cx="3089969" cy="48058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8319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AA11B8-2A4E-0895-E6CE-204044D6B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682740" cy="1017224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СРАВНЕНИЕ </a:t>
            </a:r>
            <a:r>
              <a:rPr lang="ru-RU" sz="2800" dirty="0">
                <a:ln w="0"/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дизассемблированных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ru-RU" sz="28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134677-2984-7523-EECE-692B1DAA7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5B39D7-E7C9-7681-9113-1BCE9A69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8ABBCF-31D6-8555-4946-DFE3C5036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78" y="1069844"/>
            <a:ext cx="5250879" cy="523067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552058-4DAC-0157-04F5-A637FA85D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465" y="1069844"/>
            <a:ext cx="5719157" cy="5382915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3A645BB-23BC-0616-D1EE-5311FCD23AE2}"/>
              </a:ext>
            </a:extLst>
          </p:cNvPr>
          <p:cNvSpPr/>
          <p:nvPr/>
        </p:nvSpPr>
        <p:spPr>
          <a:xfrm>
            <a:off x="92868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160FEA-CC88-CB34-389F-DFF2B00A7289}"/>
              </a:ext>
            </a:extLst>
          </p:cNvPr>
          <p:cNvSpPr/>
          <p:nvPr/>
        </p:nvSpPr>
        <p:spPr>
          <a:xfrm>
            <a:off x="6146800" y="1640840"/>
            <a:ext cx="863600" cy="32131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C1A4A44-4199-50E0-B03A-76D25E4AC337}"/>
              </a:ext>
            </a:extLst>
          </p:cNvPr>
          <p:cNvSpPr/>
          <p:nvPr/>
        </p:nvSpPr>
        <p:spPr>
          <a:xfrm>
            <a:off x="6000750" y="307181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EAD1BC6-9992-16B1-4CA5-A6B2C3D38E87}"/>
              </a:ext>
            </a:extLst>
          </p:cNvPr>
          <p:cNvSpPr/>
          <p:nvPr/>
        </p:nvSpPr>
        <p:spPr>
          <a:xfrm>
            <a:off x="92709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275849D-13C4-B63D-8FE4-F9ED2D1657D2}"/>
              </a:ext>
            </a:extLst>
          </p:cNvPr>
          <p:cNvSpPr/>
          <p:nvPr/>
        </p:nvSpPr>
        <p:spPr>
          <a:xfrm>
            <a:off x="92709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F4EBD5A-DD3B-BD73-663D-5D496E1F9ACB}"/>
              </a:ext>
            </a:extLst>
          </p:cNvPr>
          <p:cNvSpPr/>
          <p:nvPr/>
        </p:nvSpPr>
        <p:spPr>
          <a:xfrm>
            <a:off x="92709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3196F9C-AAA2-1E4D-3C30-585BF91E839D}"/>
              </a:ext>
            </a:extLst>
          </p:cNvPr>
          <p:cNvSpPr/>
          <p:nvPr/>
        </p:nvSpPr>
        <p:spPr>
          <a:xfrm>
            <a:off x="92709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7809015-1A20-E05A-ADFD-976F354F42F9}"/>
              </a:ext>
            </a:extLst>
          </p:cNvPr>
          <p:cNvSpPr/>
          <p:nvPr/>
        </p:nvSpPr>
        <p:spPr>
          <a:xfrm>
            <a:off x="92868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89D049D-D91F-DB97-F000-1E2C3C02616C}"/>
              </a:ext>
            </a:extLst>
          </p:cNvPr>
          <p:cNvSpPr/>
          <p:nvPr/>
        </p:nvSpPr>
        <p:spPr>
          <a:xfrm>
            <a:off x="6000750" y="4601108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A442E0A-4D6C-C6CB-4889-7E6CAF40950F}"/>
              </a:ext>
            </a:extLst>
          </p:cNvPr>
          <p:cNvSpPr/>
          <p:nvPr/>
        </p:nvSpPr>
        <p:spPr>
          <a:xfrm>
            <a:off x="6000750" y="3776532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D3F1C14-7CFD-A170-54FE-3F879187144F}"/>
              </a:ext>
            </a:extLst>
          </p:cNvPr>
          <p:cNvSpPr/>
          <p:nvPr/>
        </p:nvSpPr>
        <p:spPr>
          <a:xfrm>
            <a:off x="6000750" y="347702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6FA3D18-6373-6DB9-A7CB-CF947CE5FD5E}"/>
              </a:ext>
            </a:extLst>
          </p:cNvPr>
          <p:cNvSpPr/>
          <p:nvPr/>
        </p:nvSpPr>
        <p:spPr>
          <a:xfrm>
            <a:off x="6000750" y="429577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6A54296-202E-A182-2D11-BD729009551D}"/>
              </a:ext>
            </a:extLst>
          </p:cNvPr>
          <p:cNvSpPr/>
          <p:nvPr/>
        </p:nvSpPr>
        <p:spPr>
          <a:xfrm>
            <a:off x="788102" y="1348740"/>
            <a:ext cx="1161347" cy="24828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31F948D-7C37-32E0-2655-BD71590B98E5}"/>
              </a:ext>
            </a:extLst>
          </p:cNvPr>
          <p:cNvSpPr/>
          <p:nvPr/>
        </p:nvSpPr>
        <p:spPr>
          <a:xfrm>
            <a:off x="2927551" y="6345762"/>
            <a:ext cx="7210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A31214-3B93-CB8C-4555-AB037C408622}"/>
              </a:ext>
            </a:extLst>
          </p:cNvPr>
          <p:cNvSpPr txBox="1"/>
          <p:nvPr/>
        </p:nvSpPr>
        <p:spPr>
          <a:xfrm>
            <a:off x="5495420" y="6435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79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295D3-01A3-7A72-16A8-7B601FA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F64E722-EC60-1BC8-029B-D0E1E5A1CF36}"/>
              </a:ext>
            </a:extLst>
          </p:cNvPr>
          <p:cNvSpPr txBox="1">
            <a:spLocks/>
          </p:cNvSpPr>
          <p:nvPr/>
        </p:nvSpPr>
        <p:spPr>
          <a:xfrm>
            <a:off x="861060" y="365125"/>
            <a:ext cx="5162550" cy="912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СРАВНЕНИЕ </a:t>
            </a:r>
            <a:r>
              <a:rPr lang="ru-RU" sz="2800" dirty="0">
                <a:ln w="0"/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дизассемблированных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ru-RU" sz="2800" dirty="0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A6D08FD8-4A4F-2637-5ECE-2DE3367DCE92}"/>
              </a:ext>
            </a:extLst>
          </p:cNvPr>
          <p:cNvSpPr txBox="1">
            <a:spLocks/>
          </p:cNvSpPr>
          <p:nvPr/>
        </p:nvSpPr>
        <p:spPr>
          <a:xfrm>
            <a:off x="86334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11C85F-E1ED-464E-C8B3-D4505F765045}"/>
              </a:ext>
            </a:extLst>
          </p:cNvPr>
          <p:cNvSpPr/>
          <p:nvPr/>
        </p:nvSpPr>
        <p:spPr>
          <a:xfrm>
            <a:off x="95154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40BEA6C-5FE4-ABAA-76B2-A135008EC735}"/>
              </a:ext>
            </a:extLst>
          </p:cNvPr>
          <p:cNvSpPr/>
          <p:nvPr/>
        </p:nvSpPr>
        <p:spPr>
          <a:xfrm>
            <a:off x="94995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A7D4054-9D09-808A-C385-F46CA5379733}"/>
              </a:ext>
            </a:extLst>
          </p:cNvPr>
          <p:cNvSpPr/>
          <p:nvPr/>
        </p:nvSpPr>
        <p:spPr>
          <a:xfrm>
            <a:off x="94995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67846E2-0DDF-A47C-4674-6205CFE22BD2}"/>
              </a:ext>
            </a:extLst>
          </p:cNvPr>
          <p:cNvSpPr/>
          <p:nvPr/>
        </p:nvSpPr>
        <p:spPr>
          <a:xfrm>
            <a:off x="94995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C995CB2-7ADF-F23F-F68E-30F7AB55E0D8}"/>
              </a:ext>
            </a:extLst>
          </p:cNvPr>
          <p:cNvSpPr/>
          <p:nvPr/>
        </p:nvSpPr>
        <p:spPr>
          <a:xfrm>
            <a:off x="94995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52E0EA-3E5D-13BC-158C-E2ACA48BF2E2}"/>
              </a:ext>
            </a:extLst>
          </p:cNvPr>
          <p:cNvSpPr/>
          <p:nvPr/>
        </p:nvSpPr>
        <p:spPr>
          <a:xfrm>
            <a:off x="95154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351FD34-377A-3F6F-8A94-1FF37585BBF5}"/>
              </a:ext>
            </a:extLst>
          </p:cNvPr>
          <p:cNvSpPr/>
          <p:nvPr/>
        </p:nvSpPr>
        <p:spPr>
          <a:xfrm>
            <a:off x="6023610" y="4601108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2813B7-E84F-C6BA-3DD6-4CCCB40984AD}"/>
              </a:ext>
            </a:extLst>
          </p:cNvPr>
          <p:cNvSpPr/>
          <p:nvPr/>
        </p:nvSpPr>
        <p:spPr>
          <a:xfrm>
            <a:off x="6023610" y="3776532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2B6886F-54F4-4681-2142-0905361A91B6}"/>
              </a:ext>
            </a:extLst>
          </p:cNvPr>
          <p:cNvSpPr/>
          <p:nvPr/>
        </p:nvSpPr>
        <p:spPr>
          <a:xfrm>
            <a:off x="6023610" y="347702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D48736-F5C7-6B17-E72D-B1705BB78782}"/>
              </a:ext>
            </a:extLst>
          </p:cNvPr>
          <p:cNvSpPr/>
          <p:nvPr/>
        </p:nvSpPr>
        <p:spPr>
          <a:xfrm>
            <a:off x="6023610" y="4295773"/>
            <a:ext cx="1009650" cy="12223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00D8EA5-2B20-B5F7-B2AE-CA8B44C43226}"/>
              </a:ext>
            </a:extLst>
          </p:cNvPr>
          <p:cNvSpPr/>
          <p:nvPr/>
        </p:nvSpPr>
        <p:spPr>
          <a:xfrm>
            <a:off x="810962" y="1348740"/>
            <a:ext cx="1161347" cy="24828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9059480-CC92-E8E1-2C4D-A370ED741F72}"/>
              </a:ext>
            </a:extLst>
          </p:cNvPr>
          <p:cNvSpPr/>
          <p:nvPr/>
        </p:nvSpPr>
        <p:spPr>
          <a:xfrm>
            <a:off x="2749597" y="6378733"/>
            <a:ext cx="7832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810D7F0-09DB-1078-829D-9BF707A63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56" y="1174331"/>
            <a:ext cx="5434444" cy="5204402"/>
          </a:xfrm>
          <a:prstGeom prst="rect">
            <a:avLst/>
          </a:prstGeom>
        </p:spPr>
      </p:pic>
      <p:pic>
        <p:nvPicPr>
          <p:cNvPr id="24" name="Объект 23">
            <a:extLst>
              <a:ext uri="{FF2B5EF4-FFF2-40B4-BE49-F238E27FC236}">
                <a16:creationId xmlns:a16="http://schemas.microsoft.com/office/drawing/2014/main" id="{A1D3386A-4457-955C-892D-F5C32ABE6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18860" y="1174331"/>
            <a:ext cx="5475030" cy="5204402"/>
          </a:xfrm>
          <a:prstGeom prst="rect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F811C82-B96A-FF72-A7E0-FF907A55A620}"/>
              </a:ext>
            </a:extLst>
          </p:cNvPr>
          <p:cNvSpPr/>
          <p:nvPr/>
        </p:nvSpPr>
        <p:spPr>
          <a:xfrm>
            <a:off x="949958" y="2434508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79990DB-CC48-5B83-4D87-C0F2509D0487}"/>
              </a:ext>
            </a:extLst>
          </p:cNvPr>
          <p:cNvSpPr/>
          <p:nvPr/>
        </p:nvSpPr>
        <p:spPr>
          <a:xfrm>
            <a:off x="6205220" y="2762126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150798C-7D8B-BAD1-51B7-D019021DD7CC}"/>
              </a:ext>
            </a:extLst>
          </p:cNvPr>
          <p:cNvSpPr/>
          <p:nvPr/>
        </p:nvSpPr>
        <p:spPr>
          <a:xfrm>
            <a:off x="810962" y="5219457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58B33E1-2128-407F-56F3-26CE65E9FEAD}"/>
              </a:ext>
            </a:extLst>
          </p:cNvPr>
          <p:cNvSpPr/>
          <p:nvPr/>
        </p:nvSpPr>
        <p:spPr>
          <a:xfrm>
            <a:off x="6143369" y="5582264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DE87A5-6ECE-6D28-CBEA-B243CF2ABD3F}"/>
              </a:ext>
            </a:extLst>
          </p:cNvPr>
          <p:cNvSpPr txBox="1"/>
          <p:nvPr/>
        </p:nvSpPr>
        <p:spPr>
          <a:xfrm>
            <a:off x="5010150" y="64064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40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B0AC39-E1AC-E85F-3526-53D3C530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88DB80-FAE2-57FD-8E24-1D2D822F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11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D48B4DF-3C91-A0EF-4689-90C50718780F}"/>
              </a:ext>
            </a:extLst>
          </p:cNvPr>
          <p:cNvSpPr txBox="1">
            <a:spLocks/>
          </p:cNvSpPr>
          <p:nvPr/>
        </p:nvSpPr>
        <p:spPr>
          <a:xfrm>
            <a:off x="861060" y="365125"/>
            <a:ext cx="5844540" cy="1013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СРАВНЕНИЕ </a:t>
            </a:r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декомпилированных</a:t>
            </a: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кодов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ru-RU" sz="2800" dirty="0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80AE8D9D-E8BF-E295-6EED-2803E869D414}"/>
              </a:ext>
            </a:extLst>
          </p:cNvPr>
          <p:cNvSpPr txBox="1">
            <a:spLocks/>
          </p:cNvSpPr>
          <p:nvPr/>
        </p:nvSpPr>
        <p:spPr>
          <a:xfrm>
            <a:off x="8633460" y="6356350"/>
            <a:ext cx="9953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D77FF8-6B81-FC09-107E-8C3948C1C8E5}"/>
              </a:ext>
            </a:extLst>
          </p:cNvPr>
          <p:cNvSpPr/>
          <p:nvPr/>
        </p:nvSpPr>
        <p:spPr>
          <a:xfrm>
            <a:off x="951547" y="1802605"/>
            <a:ext cx="158433" cy="22383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D34FF79-19D4-6A46-EB7C-8E06A27C1FF1}"/>
              </a:ext>
            </a:extLst>
          </p:cNvPr>
          <p:cNvSpPr/>
          <p:nvPr/>
        </p:nvSpPr>
        <p:spPr>
          <a:xfrm>
            <a:off x="949959" y="3071813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5B5C71-370C-71AB-2BE3-68BC03F0868D}"/>
              </a:ext>
            </a:extLst>
          </p:cNvPr>
          <p:cNvSpPr/>
          <p:nvPr/>
        </p:nvSpPr>
        <p:spPr>
          <a:xfrm>
            <a:off x="949959" y="3381374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65C6AB-8F93-DE7D-AFD2-AFD237C44E29}"/>
              </a:ext>
            </a:extLst>
          </p:cNvPr>
          <p:cNvSpPr/>
          <p:nvPr/>
        </p:nvSpPr>
        <p:spPr>
          <a:xfrm>
            <a:off x="949959" y="360203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C19539-D990-62A5-D60D-72174B85AAF6}"/>
              </a:ext>
            </a:extLst>
          </p:cNvPr>
          <p:cNvSpPr/>
          <p:nvPr/>
        </p:nvSpPr>
        <p:spPr>
          <a:xfrm>
            <a:off x="949959" y="3983036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B128A31-6124-D454-21E4-7B7AA071B98C}"/>
              </a:ext>
            </a:extLst>
          </p:cNvPr>
          <p:cNvSpPr/>
          <p:nvPr/>
        </p:nvSpPr>
        <p:spPr>
          <a:xfrm>
            <a:off x="951547" y="4202905"/>
            <a:ext cx="1022350" cy="8096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6EA9414-1F77-1741-4572-630BDD8F1417}"/>
              </a:ext>
            </a:extLst>
          </p:cNvPr>
          <p:cNvSpPr/>
          <p:nvPr/>
        </p:nvSpPr>
        <p:spPr>
          <a:xfrm>
            <a:off x="810962" y="1348740"/>
            <a:ext cx="1161347" cy="24828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7D18737-7D4D-4DEC-BC2A-5C349F3D3146}"/>
              </a:ext>
            </a:extLst>
          </p:cNvPr>
          <p:cNvSpPr/>
          <p:nvPr/>
        </p:nvSpPr>
        <p:spPr>
          <a:xfrm>
            <a:off x="2749597" y="6378733"/>
            <a:ext cx="78329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cs typeface="Arial" panose="020B0604020202020204" pitchFamily="34" charset="0"/>
              </a:rPr>
              <a:t>ILSpy</a:t>
            </a:r>
            <a:endParaRPr lang="ru-RU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6E369A-11B2-7CEE-035B-FF3E274C1CE0}"/>
              </a:ext>
            </a:extLst>
          </p:cNvPr>
          <p:cNvSpPr/>
          <p:nvPr/>
        </p:nvSpPr>
        <p:spPr>
          <a:xfrm>
            <a:off x="949958" y="2434508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1C8EF91-F25D-C101-1FCC-88B102094998}"/>
              </a:ext>
            </a:extLst>
          </p:cNvPr>
          <p:cNvSpPr/>
          <p:nvPr/>
        </p:nvSpPr>
        <p:spPr>
          <a:xfrm>
            <a:off x="810962" y="5219457"/>
            <a:ext cx="941451" cy="11184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EF812D-CE2B-960D-68E0-9FD84C4BEBB9}"/>
              </a:ext>
            </a:extLst>
          </p:cNvPr>
          <p:cNvSpPr txBox="1"/>
          <p:nvPr/>
        </p:nvSpPr>
        <p:spPr>
          <a:xfrm>
            <a:off x="3755246" y="6431055"/>
            <a:ext cx="4680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 panose="020B0004020202020204" pitchFamily="34" charset="0"/>
                <a:cs typeface="Arial" panose="020B0604020202020204" pitchFamily="34" charset="0"/>
              </a:rPr>
              <a:t>.Net</a:t>
            </a:r>
            <a:r>
              <a:rPr lang="en-US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cs typeface="Arial" panose="020B0604020202020204" pitchFamily="34" charset="0"/>
              </a:rPr>
              <a:t>Reflector</a:t>
            </a:r>
            <a:endParaRPr lang="ru-RU" sz="1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FECEC09-BAD8-9132-65A0-6BF5E3D2DE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183" t="4493" r="31557" b="34655"/>
          <a:stretch/>
        </p:blipFill>
        <p:spPr bwMode="auto">
          <a:xfrm>
            <a:off x="6487448" y="1355786"/>
            <a:ext cx="3141404" cy="48858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F22D4D0-1E59-9BBC-BFA6-0CF695DC2C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16" t="3534" r="14450"/>
          <a:stretch/>
        </p:blipFill>
        <p:spPr>
          <a:xfrm>
            <a:off x="259240" y="1348740"/>
            <a:ext cx="5991065" cy="47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98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Расчет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BAC630-070F-4819-ACFA-E5C7D457FC78}"/>
              </a:ext>
            </a:extLst>
          </p:cNvPr>
          <p:cNvSpPr txBox="1"/>
          <p:nvPr/>
        </p:nvSpPr>
        <p:spPr>
          <a:xfrm>
            <a:off x="519476" y="1361569"/>
            <a:ext cx="188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Dump </a:t>
            </a:r>
            <a:r>
              <a:rPr lang="ru-RU" dirty="0"/>
              <a:t>в </a:t>
            </a:r>
            <a:r>
              <a:rPr lang="en-US" dirty="0" err="1"/>
              <a:t>radare</a:t>
            </a:r>
            <a:r>
              <a:rPr lang="en-US" dirty="0"/>
              <a:t> 2.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DFCA2-4BEA-4CC8-8B28-81CA3AC49A27}"/>
              </a:ext>
            </a:extLst>
          </p:cNvPr>
          <p:cNvSpPr txBox="1"/>
          <p:nvPr/>
        </p:nvSpPr>
        <p:spPr>
          <a:xfrm>
            <a:off x="7157258" y="5847407"/>
            <a:ext cx="3574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Энтропия файла, посчитанная с помощью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radare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2</a:t>
            </a:r>
            <a:r>
              <a:rPr lang="ru-RU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</a:t>
            </a:r>
            <a:endParaRPr lang="ru-RU" dirty="0">
              <a:effectLst/>
            </a:endParaRP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F94C42-19F7-4305-A55A-4F8B3B22B297}"/>
              </a:ext>
            </a:extLst>
          </p:cNvPr>
          <p:cNvSpPr txBox="1"/>
          <p:nvPr/>
        </p:nvSpPr>
        <p:spPr>
          <a:xfrm>
            <a:off x="7281949" y="3765665"/>
            <a:ext cx="352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Данные о файле </a:t>
            </a:r>
            <a:r>
              <a:rPr lang="en-US" dirty="0"/>
              <a:t>DLI </a:t>
            </a:r>
            <a:r>
              <a:rPr lang="ru-RU" dirty="0"/>
              <a:t>кода </a:t>
            </a:r>
            <a:r>
              <a:rPr lang="en-US" dirty="0"/>
              <a:t>C#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D75CEB-E5E6-6D2A-65E8-932039A9B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131" y="1165770"/>
            <a:ext cx="5940425" cy="264541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0BB425-55A1-6441-5AB6-7A7EC7089C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04" y="4518901"/>
            <a:ext cx="4987496" cy="944601"/>
          </a:xfrm>
          <a:prstGeom prst="rect">
            <a:avLst/>
          </a:prstGeom>
        </p:spPr>
      </p:pic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04B89AEC-859D-313E-790C-43F8DAEA6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" y="1873491"/>
            <a:ext cx="6579875" cy="3425771"/>
          </a:xfrm>
        </p:spPr>
      </p:pic>
    </p:spTree>
    <p:extLst>
      <p:ext uri="{BB962C8B-B14F-4D97-AF65-F5344CB8AC3E}">
        <p14:creationId xmlns:p14="http://schemas.microsoft.com/office/powerpoint/2010/main" val="1592638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064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9D3473F-405A-4C6F-997B-A3443C111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Автоматизированная конвертация исходного кода из C++ в C# была выполнена успешно с первой попытки, не потребовав дополнительных итераций исправления логики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r>
              <a:rPr lang="ru-RU" dirty="0"/>
              <a:t>При сопоставлении результатов декомпиляции в </a:t>
            </a:r>
            <a:r>
              <a:rPr lang="ru-RU" dirty="0" err="1"/>
              <a:t>ILSpy</a:t>
            </a:r>
            <a:r>
              <a:rPr lang="ru-RU" dirty="0"/>
              <a:t> и .NET </a:t>
            </a:r>
            <a:r>
              <a:rPr lang="ru-RU" dirty="0" err="1"/>
              <a:t>Reflector</a:t>
            </a:r>
            <a:r>
              <a:rPr lang="ru-RU" dirty="0"/>
              <a:t> была отмечена высокая степень идентичности восстановленного кода. И с точки зрения эргономики и интуитивности интерфейса .NET </a:t>
            </a:r>
            <a:r>
              <a:rPr lang="ru-RU" dirty="0" err="1"/>
              <a:t>Reflector</a:t>
            </a:r>
            <a:r>
              <a:rPr lang="ru-RU" dirty="0"/>
              <a:t> и </a:t>
            </a:r>
            <a:r>
              <a:rPr lang="ru-RU" dirty="0" err="1"/>
              <a:t>ILSpy</a:t>
            </a:r>
            <a:r>
              <a:rPr lang="ru-RU" dirty="0"/>
              <a:t> продемонстрировали одинаковую </a:t>
            </a:r>
            <a:r>
              <a:rPr lang="ru-RU"/>
              <a:t>степень удобства.</a:t>
            </a:r>
            <a:endParaRPr lang="ru-RU" dirty="0"/>
          </a:p>
          <a:p>
            <a:r>
              <a:rPr lang="ru-RU" dirty="0"/>
              <a:t>Выявлены различия в представлении промежуточного кода: .NET </a:t>
            </a:r>
            <a:r>
              <a:rPr lang="ru-RU" dirty="0" err="1"/>
              <a:t>Reflector</a:t>
            </a:r>
            <a:r>
              <a:rPr lang="ru-RU" dirty="0"/>
              <a:t> использует префикс меток </a:t>
            </a:r>
            <a:r>
              <a:rPr lang="en-US" dirty="0"/>
              <a:t>L_0000</a:t>
            </a:r>
            <a:r>
              <a:rPr lang="ru-RU" dirty="0"/>
              <a:t>, в то время как для </a:t>
            </a:r>
            <a:r>
              <a:rPr lang="ru-RU" dirty="0" err="1"/>
              <a:t>ILSpy</a:t>
            </a:r>
            <a:r>
              <a:rPr lang="ru-RU" dirty="0"/>
              <a:t> характерен </a:t>
            </a:r>
            <a:r>
              <a:rPr lang="en-US" dirty="0"/>
              <a:t>IL_0000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79500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Words>307</Words>
  <Application>Microsoft Office PowerPoint</Application>
  <PresentationFormat>Широкоэкранный</PresentationFormat>
  <Paragraphs>68</Paragraphs>
  <Slides>13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Calibri Light</vt:lpstr>
      <vt:lpstr>quote-cjk-patch</vt:lpstr>
      <vt:lpstr>Тема Office</vt:lpstr>
      <vt:lpstr>Технология реверс-инжиниринга Задание 3</vt:lpstr>
      <vt:lpstr>Оглавление</vt:lpstr>
      <vt:lpstr>Исходная программа</vt:lpstr>
      <vt:lpstr>Презентация PowerPoint</vt:lpstr>
      <vt:lpstr>ILSpy</vt:lpstr>
      <vt:lpstr>Презентация PowerPoint</vt:lpstr>
      <vt:lpstr>.NET Reflector</vt:lpstr>
      <vt:lpstr>Презентация PowerPoint</vt:lpstr>
      <vt:lpstr>СРАВНЕНИЕ дизассемблированных кодов </vt:lpstr>
      <vt:lpstr>Презентация PowerPoint</vt:lpstr>
      <vt:lpstr>Презентация PowerPoint</vt:lpstr>
      <vt:lpstr>Расчет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Иконников Илья Сергеевич</cp:lastModifiedBy>
  <cp:revision>220</cp:revision>
  <dcterms:created xsi:type="dcterms:W3CDTF">2021-11-29T10:22:08Z</dcterms:created>
  <dcterms:modified xsi:type="dcterms:W3CDTF">2026-04-02T07:55:24Z</dcterms:modified>
</cp:coreProperties>
</file>