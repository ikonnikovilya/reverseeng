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473" r:id="rId3"/>
    <p:sldId id="488" r:id="rId4"/>
    <p:sldId id="258" r:id="rId5"/>
    <p:sldId id="487" r:id="rId6"/>
    <p:sldId id="486" r:id="rId7"/>
    <p:sldId id="493" r:id="rId8"/>
    <p:sldId id="494" r:id="rId9"/>
    <p:sldId id="475" r:id="rId10"/>
    <p:sldId id="483" r:id="rId11"/>
    <p:sldId id="474" r:id="rId12"/>
    <p:sldId id="484" r:id="rId13"/>
    <p:sldId id="489" r:id="rId14"/>
    <p:sldId id="490" r:id="rId15"/>
    <p:sldId id="491" r:id="rId16"/>
    <p:sldId id="492" r:id="rId17"/>
    <p:sldId id="485" r:id="rId18"/>
    <p:sldId id="481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88"/>
            <p14:sldId id="258"/>
            <p14:sldId id="487"/>
            <p14:sldId id="486"/>
            <p14:sldId id="493"/>
            <p14:sldId id="494"/>
            <p14:sldId id="475"/>
            <p14:sldId id="483"/>
            <p14:sldId id="474"/>
            <p14:sldId id="484"/>
            <p14:sldId id="489"/>
            <p14:sldId id="490"/>
            <p14:sldId id="491"/>
            <p14:sldId id="492"/>
            <p14:sldId id="485"/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397" autoAdjust="0"/>
  </p:normalViewPr>
  <p:slideViewPr>
    <p:cSldViewPr snapToGrid="0">
      <p:cViewPr varScale="1">
        <p:scale>
          <a:sx n="120" d="100"/>
          <a:sy n="120" d="100"/>
        </p:scale>
        <p:origin x="36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8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899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7</a:t>
            </a:r>
            <a:br>
              <a:rPr lang="en-US" sz="28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Иконников И.С., Наседкин Т.Ф.,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01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838200" y="1183719"/>
            <a:ext cx="10759494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en-US" sz="2400" u="sng" dirty="0"/>
              <a:t>AST</a:t>
            </a:r>
            <a:r>
              <a:rPr lang="ru-RU" sz="2400" u="sng" dirty="0"/>
              <a:t>- 3 </a:t>
            </a:r>
            <a:r>
              <a:rPr lang="ru-RU" sz="2400" u="sng" dirty="0" err="1"/>
              <a:t>стр</a:t>
            </a:r>
            <a:r>
              <a:rPr lang="ru-RU" sz="2400" u="sng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400" u="sng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Исходная программа</a:t>
            </a:r>
            <a:r>
              <a:rPr lang="en-US" sz="2400" u="sng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python</a:t>
            </a:r>
            <a:r>
              <a:rPr lang="ru-RU" sz="2400" u="sng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400" u="sng" dirty="0"/>
              <a:t>- 4 </a:t>
            </a:r>
            <a:r>
              <a:rPr lang="ru-RU" sz="2400" u="sng" dirty="0" err="1"/>
              <a:t>стр</a:t>
            </a:r>
            <a:r>
              <a:rPr lang="ru-RU" sz="2400" u="sng" dirty="0"/>
              <a:t> </a:t>
            </a:r>
          </a:p>
          <a:p>
            <a:pPr marL="449263" indent="-449263" algn="just">
              <a:buAutoNum type="arabicPeriod"/>
            </a:pPr>
            <a:r>
              <a:rPr lang="ru-RU" sz="2400" u="sng" dirty="0"/>
              <a:t>Код для статического анализа - 5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ru-RU" sz="2400" u="sng" dirty="0"/>
              <a:t>Результат выполнения - 6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ru-RU" sz="2400" u="sng" dirty="0"/>
              <a:t>Анализ дерева – 7-8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ru-RU" sz="2400" u="sng" dirty="0"/>
              <a:t>Дерево – 9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/>
              <a:t>Graphviz</a:t>
            </a:r>
            <a:r>
              <a:rPr lang="ru-RU" sz="2400" u="sng" dirty="0"/>
              <a:t> - 10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/>
              <a:t>AST analyzer</a:t>
            </a:r>
            <a:r>
              <a:rPr lang="ru-RU" sz="2400" u="sng" dirty="0"/>
              <a:t>  - 11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Статический анализатор </a:t>
            </a:r>
            <a:r>
              <a:rPr lang="en-US" sz="2400" u="sng" dirty="0"/>
              <a:t>AST</a:t>
            </a:r>
            <a:r>
              <a:rPr lang="ru-RU" sz="2400" u="sng" dirty="0"/>
              <a:t> - 12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Дерево графического представления - 13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Мертвый код – 14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Анализ мертвого кода – 15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Вывод мертвого кода – 16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Недостатки статического анализатора </a:t>
            </a:r>
            <a:r>
              <a:rPr lang="en-US" sz="2400" u="sng" dirty="0"/>
              <a:t>AST</a:t>
            </a:r>
            <a:r>
              <a:rPr lang="ru-RU" sz="2400" u="sng" dirty="0"/>
              <a:t> - </a:t>
            </a:r>
            <a:r>
              <a:rPr lang="en-US" sz="2400" u="sng" dirty="0"/>
              <a:t>1</a:t>
            </a:r>
            <a:r>
              <a:rPr lang="ru-RU" sz="2400" u="sng" dirty="0"/>
              <a:t>7</a:t>
            </a:r>
            <a:r>
              <a:rPr lang="en-US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ru-RU" sz="2400" u="sng" dirty="0"/>
              <a:t>Выводы - 18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endParaRPr lang="en-US" sz="2400" dirty="0"/>
          </a:p>
          <a:p>
            <a:pPr marL="342900" indent="-342900">
              <a:buFontTx/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ru-RU" sz="1600" dirty="0"/>
          </a:p>
          <a:p>
            <a:pPr marL="342900" indent="-342900"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2FC75-F46B-DBC0-BB3B-F9993CA7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AST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F35E4-02A1-A4E9-B1D6-7841863A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909" y="6623437"/>
            <a:ext cx="6246412" cy="47139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1DD29E-1B73-CCF5-71DF-37E484CC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B4D73-9E5C-F9FE-6483-5142D88AB35B}"/>
              </a:ext>
            </a:extLst>
          </p:cNvPr>
          <p:cNvSpPr txBox="1"/>
          <p:nvPr/>
        </p:nvSpPr>
        <p:spPr>
          <a:xfrm>
            <a:off x="978009" y="2136338"/>
            <a:ext cx="105831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AST (</a:t>
            </a:r>
            <a:r>
              <a:rPr lang="ru-RU" sz="1800" b="1" dirty="0" err="1"/>
              <a:t>Abstract</a:t>
            </a:r>
            <a:r>
              <a:rPr lang="ru-RU" sz="1800" b="1" dirty="0"/>
              <a:t> </a:t>
            </a:r>
            <a:r>
              <a:rPr lang="ru-RU" sz="1800" b="1" dirty="0" err="1"/>
              <a:t>Syntax</a:t>
            </a:r>
            <a:r>
              <a:rPr lang="ru-RU" sz="1800" b="1" dirty="0"/>
              <a:t> </a:t>
            </a:r>
            <a:r>
              <a:rPr lang="ru-RU" sz="1800" b="1" dirty="0" err="1"/>
              <a:t>Tree</a:t>
            </a:r>
            <a:r>
              <a:rPr lang="ru-RU" sz="1800" b="1" dirty="0"/>
              <a:t>)</a:t>
            </a:r>
            <a:r>
              <a:rPr lang="ru-RU" sz="1800" dirty="0"/>
              <a:t> — это иерархическое представление структуры исходного кода </a:t>
            </a:r>
            <a:r>
              <a:rPr lang="en-US" sz="1800" dirty="0"/>
              <a:t>python</a:t>
            </a:r>
            <a:r>
              <a:rPr lang="ru-RU" sz="1800" dirty="0"/>
              <a:t> в виде дерева. Оно позволяет программе (компилятору или анализатору) понимать логику кода, а не просто видеть в нём набор символов.</a:t>
            </a:r>
            <a:endParaRPr lang="ru-RU" b="1" dirty="0"/>
          </a:p>
          <a:p>
            <a:r>
              <a:rPr lang="ru-RU" b="1" dirty="0"/>
              <a:t>Иерархия:</a:t>
            </a:r>
            <a:r>
              <a:rPr lang="ru-RU" dirty="0"/>
              <a:t> Код разбивается на узлы (</a:t>
            </a:r>
            <a:r>
              <a:rPr lang="ru-RU" dirty="0" err="1"/>
              <a:t>nodes</a:t>
            </a:r>
            <a:r>
              <a:rPr lang="ru-RU" dirty="0"/>
              <a:t>), где каждый узел — это логическая единица: вызов функции, переменная, цикл или оператор.</a:t>
            </a:r>
            <a:endParaRPr lang="en-US" dirty="0"/>
          </a:p>
          <a:p>
            <a:r>
              <a:rPr lang="ru-RU" b="1" dirty="0"/>
              <a:t>Абстракция:</a:t>
            </a:r>
            <a:r>
              <a:rPr lang="ru-RU" dirty="0"/>
              <a:t> В дереве опускаются лишние детали синтаксиса, такие как скобки, точки с запятой или отступы, оставляя только смысл операций.</a:t>
            </a:r>
            <a:r>
              <a:rPr lang="en-US" dirty="0"/>
              <a:t> </a:t>
            </a:r>
          </a:p>
          <a:p>
            <a:r>
              <a:rPr lang="ru-RU" b="1" dirty="0"/>
              <a:t>Связи:</a:t>
            </a:r>
            <a:r>
              <a:rPr lang="ru-RU" dirty="0"/>
              <a:t> Ветки дерева показывают зависимости. Например, для строки </a:t>
            </a:r>
            <a:r>
              <a:rPr lang="en-US" dirty="0" err="1"/>
              <a:t>total_sum</a:t>
            </a:r>
            <a:r>
              <a:rPr lang="en-US" dirty="0"/>
              <a:t> += number </a:t>
            </a:r>
            <a:r>
              <a:rPr lang="ru-RU" dirty="0"/>
              <a:t>узлом верхнего уровня будет операция присваивания, а нижнего переменная и значение. </a:t>
            </a:r>
          </a:p>
          <a:p>
            <a:r>
              <a:rPr lang="ru-RU" b="0" u="none" strike="noStrike" dirty="0">
                <a:effectLst/>
                <a:latin typeface="Google Sans"/>
              </a:rPr>
              <a:t>Модуль </a:t>
            </a:r>
            <a:r>
              <a:rPr lang="ru-RU" b="0" u="none" strike="noStrike" dirty="0" err="1">
                <a:effectLst/>
                <a:latin typeface="Google Sans"/>
              </a:rPr>
              <a:t>ast</a:t>
            </a:r>
            <a:r>
              <a:rPr lang="ru-RU" b="0" u="none" strike="noStrike" dirty="0">
                <a:effectLst/>
                <a:latin typeface="Google Sans"/>
              </a:rPr>
              <a:t> (</a:t>
            </a:r>
            <a:r>
              <a:rPr lang="ru-RU" b="0" u="none" strike="noStrike" dirty="0" err="1">
                <a:effectLst/>
                <a:latin typeface="Google Sans"/>
              </a:rPr>
              <a:t>Abstract</a:t>
            </a:r>
            <a:r>
              <a:rPr lang="ru-RU" b="0" u="none" strike="noStrike" dirty="0">
                <a:effectLst/>
                <a:latin typeface="Google Sans"/>
              </a:rPr>
              <a:t> </a:t>
            </a:r>
            <a:r>
              <a:rPr lang="ru-RU" b="0" u="none" strike="noStrike" dirty="0" err="1">
                <a:effectLst/>
                <a:latin typeface="Google Sans"/>
              </a:rPr>
              <a:t>Syntax</a:t>
            </a:r>
            <a:r>
              <a:rPr lang="ru-RU" b="0" u="none" strike="noStrike" dirty="0">
                <a:effectLst/>
                <a:latin typeface="Google Sans"/>
              </a:rPr>
              <a:t> </a:t>
            </a:r>
            <a:r>
              <a:rPr lang="ru-RU" b="0" u="none" strike="noStrike" dirty="0" err="1">
                <a:effectLst/>
                <a:latin typeface="Google Sans"/>
              </a:rPr>
              <a:t>Trees</a:t>
            </a:r>
            <a:r>
              <a:rPr lang="ru-RU" b="0" u="none" strike="noStrike" dirty="0">
                <a:effectLst/>
                <a:latin typeface="Google Sans"/>
              </a:rPr>
              <a:t>) для работы с абстрактными синтаксическими деревьями в Python официально появился и задокументирован в стандартной библиотеке с </a:t>
            </a:r>
            <a:r>
              <a:rPr lang="ru-RU" b="1" u="none" strike="noStrike" dirty="0">
                <a:effectLst/>
                <a:latin typeface="Google Sans"/>
              </a:rPr>
              <a:t>версии 2.5 (2006 год).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687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436608"/>
            <a:ext cx="5257800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Исходная программа на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python 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74BE77-67FC-4B1B-C0BC-A2A2D2A0B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14" y="1077322"/>
            <a:ext cx="8821381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A16D8-2D38-373B-B379-632DE5E3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207963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Код для статического анализа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AD02C-1F4D-E091-BA59-C8AB2231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ECFB130-C5BD-D8CB-243F-1CE1DE941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95" y="1101794"/>
            <a:ext cx="5584990" cy="543711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97A4B79-6C5D-7821-254A-F93CCB85A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740" y="1101794"/>
            <a:ext cx="6861688" cy="396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4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1BB77-6F80-9B3A-1D88-CC296E7A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Результат выполнения</a:t>
            </a:r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49D02F-ACDA-EF6F-F816-24FACD10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D77DC-3EBC-39F8-AA34-C5F8FD133787}"/>
              </a:ext>
            </a:extLst>
          </p:cNvPr>
          <p:cNvSpPr txBox="1"/>
          <p:nvPr/>
        </p:nvSpPr>
        <p:spPr>
          <a:xfrm>
            <a:off x="739139" y="6211635"/>
            <a:ext cx="427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Ast</a:t>
            </a:r>
            <a:r>
              <a:rPr lang="en-US" dirty="0"/>
              <a:t> </a:t>
            </a:r>
            <a:r>
              <a:rPr lang="ru-RU" dirty="0"/>
              <a:t>дерево (формальное представление как </a:t>
            </a:r>
            <a:r>
              <a:rPr lang="en-US" dirty="0"/>
              <a:t>python </a:t>
            </a:r>
            <a:r>
              <a:rPr lang="ru-RU" dirty="0"/>
              <a:t>видит наш код)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65338-6940-6347-56CA-1D93EB61E4CB}"/>
              </a:ext>
            </a:extLst>
          </p:cNvPr>
          <p:cNvSpPr txBox="1"/>
          <p:nvPr/>
        </p:nvSpPr>
        <p:spPr>
          <a:xfrm>
            <a:off x="8218998" y="5893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Анализ путей исполнения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8B1A800-7385-C7D8-899A-806872EF2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193" y="2809030"/>
            <a:ext cx="5191850" cy="2676899"/>
          </a:xfrm>
          <a:prstGeom prst="rect">
            <a:avLst/>
          </a:prstGeom>
        </p:spPr>
      </p:pic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4569FFBA-1767-80A5-4C8B-D4F51DC8F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747" y="1110343"/>
            <a:ext cx="2658433" cy="4967583"/>
          </a:xfrm>
        </p:spPr>
      </p:pic>
    </p:spTree>
    <p:extLst>
      <p:ext uri="{BB962C8B-B14F-4D97-AF65-F5344CB8AC3E}">
        <p14:creationId xmlns:p14="http://schemas.microsoft.com/office/powerpoint/2010/main" val="338007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B158E24-D555-4C3D-3576-D2776D1D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198" y="2388277"/>
            <a:ext cx="2708802" cy="127311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AB8BDB6-DDAE-AEC0-34FF-6623B9D39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3803" y="2722692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82CDA22-5FB4-B176-6E30-8308C781536F}"/>
              </a:ext>
            </a:extLst>
          </p:cNvPr>
          <p:cNvSpPr>
            <a:spLocks noGrp="1"/>
          </p:cNvSpPr>
          <p:nvPr/>
        </p:nvSpPr>
        <p:spPr>
          <a:xfrm>
            <a:off x="900386" y="248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дерева</a:t>
            </a:r>
            <a:endParaRPr lang="ru-RU" sz="3600" dirty="0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28F8599E-B131-40D5-1BDC-E37A19E34AEE}"/>
              </a:ext>
            </a:extLst>
          </p:cNvPr>
          <p:cNvSpPr>
            <a:spLocks noGrp="1"/>
          </p:cNvSpPr>
          <p:nvPr/>
        </p:nvSpPr>
        <p:spPr>
          <a:xfrm>
            <a:off x="8672786" y="63616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62DD3BB-ED19-4521-91A6-AD189F60E13D}"/>
              </a:ext>
            </a:extLst>
          </p:cNvPr>
          <p:cNvSpPr txBox="1"/>
          <p:nvPr/>
        </p:nvSpPr>
        <p:spPr>
          <a:xfrm>
            <a:off x="362015" y="6176963"/>
            <a:ext cx="427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1 часть </a:t>
            </a:r>
            <a:r>
              <a:rPr lang="en-US" dirty="0"/>
              <a:t>Ast </a:t>
            </a:r>
            <a:r>
              <a:rPr lang="ru-RU" dirty="0"/>
              <a:t>дерева</a:t>
            </a:r>
          </a:p>
        </p:txBody>
      </p:sp>
      <p:pic>
        <p:nvPicPr>
          <p:cNvPr id="14" name="Объект 6">
            <a:extLst>
              <a:ext uri="{FF2B5EF4-FFF2-40B4-BE49-F238E27FC236}">
                <a16:creationId xmlns:a16="http://schemas.microsoft.com/office/drawing/2014/main" id="{D8F4FC51-A640-224B-2331-4524E4D94BB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t="1290" b="37099"/>
          <a:stretch>
            <a:fillRect/>
          </a:stretch>
        </p:blipFill>
        <p:spPr>
          <a:xfrm>
            <a:off x="794392" y="1223838"/>
            <a:ext cx="4446429" cy="4948924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11A7CA-CD5C-C87F-18CB-918D1D94D77C}"/>
              </a:ext>
            </a:extLst>
          </p:cNvPr>
          <p:cNvSpPr/>
          <p:nvPr/>
        </p:nvSpPr>
        <p:spPr>
          <a:xfrm>
            <a:off x="838200" y="2022159"/>
            <a:ext cx="3317814" cy="449483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835328F-46DF-722F-458A-C6C70E585F06}"/>
              </a:ext>
            </a:extLst>
          </p:cNvPr>
          <p:cNvSpPr/>
          <p:nvPr/>
        </p:nvSpPr>
        <p:spPr>
          <a:xfrm>
            <a:off x="838200" y="2470272"/>
            <a:ext cx="3317814" cy="415368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E528A85-6E3F-8CA1-3110-96F35EBED23A}"/>
              </a:ext>
            </a:extLst>
          </p:cNvPr>
          <p:cNvSpPr/>
          <p:nvPr/>
        </p:nvSpPr>
        <p:spPr>
          <a:xfrm>
            <a:off x="838200" y="2885640"/>
            <a:ext cx="3317814" cy="52197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90196E3-6E3F-9FDD-1220-254FA10E4352}"/>
              </a:ext>
            </a:extLst>
          </p:cNvPr>
          <p:cNvSpPr/>
          <p:nvPr/>
        </p:nvSpPr>
        <p:spPr>
          <a:xfrm>
            <a:off x="838200" y="3407609"/>
            <a:ext cx="3317814" cy="742949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E97F0B5-6743-4667-5A30-CE9E75A600F3}"/>
              </a:ext>
            </a:extLst>
          </p:cNvPr>
          <p:cNvSpPr/>
          <p:nvPr/>
        </p:nvSpPr>
        <p:spPr>
          <a:xfrm>
            <a:off x="838200" y="4150558"/>
            <a:ext cx="3317814" cy="2022204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720F6A5-10D6-B7ED-9F64-8A9B7B09A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0" t="22939" r="15057" b="5766"/>
          <a:stretch>
            <a:fillRect/>
          </a:stretch>
        </p:blipFill>
        <p:spPr>
          <a:xfrm>
            <a:off x="5402075" y="2022159"/>
            <a:ext cx="6388274" cy="35366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586981F-F3BB-E446-BBDD-5C239CCD8837}"/>
              </a:ext>
            </a:extLst>
          </p:cNvPr>
          <p:cNvSpPr txBox="1"/>
          <p:nvPr/>
        </p:nvSpPr>
        <p:spPr>
          <a:xfrm>
            <a:off x="5303006" y="617276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Исходный код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0872A4F-B268-ED46-4AB4-ED694ED097EA}"/>
              </a:ext>
            </a:extLst>
          </p:cNvPr>
          <p:cNvSpPr/>
          <p:nvPr/>
        </p:nvSpPr>
        <p:spPr>
          <a:xfrm>
            <a:off x="5402075" y="2235399"/>
            <a:ext cx="3317814" cy="205740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BD6C901-580B-6479-42DD-1548ED9648F5}"/>
              </a:ext>
            </a:extLst>
          </p:cNvPr>
          <p:cNvSpPr/>
          <p:nvPr/>
        </p:nvSpPr>
        <p:spPr>
          <a:xfrm>
            <a:off x="5402075" y="2441139"/>
            <a:ext cx="3317814" cy="1888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2B0B46D-4935-3535-6C25-E7C3BCF865F1}"/>
              </a:ext>
            </a:extLst>
          </p:cNvPr>
          <p:cNvSpPr/>
          <p:nvPr/>
        </p:nvSpPr>
        <p:spPr>
          <a:xfrm>
            <a:off x="5402075" y="2630006"/>
            <a:ext cx="3317814" cy="1888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6ECA2A4-936F-9EEE-A073-8D0C08F5A90F}"/>
              </a:ext>
            </a:extLst>
          </p:cNvPr>
          <p:cNvSpPr/>
          <p:nvPr/>
        </p:nvSpPr>
        <p:spPr>
          <a:xfrm>
            <a:off x="5402075" y="2818873"/>
            <a:ext cx="3317814" cy="188867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35EE5CB-3CB7-287D-6F98-69D4F7EA4F07}"/>
              </a:ext>
            </a:extLst>
          </p:cNvPr>
          <p:cNvSpPr/>
          <p:nvPr/>
        </p:nvSpPr>
        <p:spPr>
          <a:xfrm>
            <a:off x="5402075" y="3007740"/>
            <a:ext cx="3317814" cy="188867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84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6">
            <a:extLst>
              <a:ext uri="{FF2B5EF4-FFF2-40B4-BE49-F238E27FC236}">
                <a16:creationId xmlns:a16="http://schemas.microsoft.com/office/drawing/2014/main" id="{C8A6A735-0CE6-085D-FBF9-31100BC62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98" b="212"/>
          <a:stretch>
            <a:fillRect/>
          </a:stretch>
        </p:blipFill>
        <p:spPr>
          <a:xfrm>
            <a:off x="558723" y="1139433"/>
            <a:ext cx="4626582" cy="5021968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B83984-150B-6FE3-1BB8-09A97230F8CB}"/>
              </a:ext>
            </a:extLst>
          </p:cNvPr>
          <p:cNvSpPr>
            <a:spLocks noGrp="1"/>
          </p:cNvSpPr>
          <p:nvPr/>
        </p:nvSpPr>
        <p:spPr>
          <a:xfrm>
            <a:off x="861905" y="1718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дерева</a:t>
            </a:r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EA1F0-360E-890B-F1DB-035802E0ED53}"/>
              </a:ext>
            </a:extLst>
          </p:cNvPr>
          <p:cNvSpPr>
            <a:spLocks noGrp="1"/>
          </p:cNvSpPr>
          <p:nvPr/>
        </p:nvSpPr>
        <p:spPr>
          <a:xfrm>
            <a:off x="8634305" y="62849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37360A1-5653-6CB6-89A3-1C1AC617DD34}"/>
              </a:ext>
            </a:extLst>
          </p:cNvPr>
          <p:cNvSpPr txBox="1"/>
          <p:nvPr/>
        </p:nvSpPr>
        <p:spPr>
          <a:xfrm>
            <a:off x="601667" y="6161400"/>
            <a:ext cx="427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2 часть </a:t>
            </a:r>
            <a:r>
              <a:rPr lang="en-US" dirty="0"/>
              <a:t>Ast </a:t>
            </a:r>
            <a:r>
              <a:rPr lang="ru-RU" dirty="0"/>
              <a:t>дерева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582934D-909C-38F9-1443-38C1A18E940B}"/>
              </a:ext>
            </a:extLst>
          </p:cNvPr>
          <p:cNvSpPr/>
          <p:nvPr/>
        </p:nvSpPr>
        <p:spPr>
          <a:xfrm>
            <a:off x="601667" y="1744738"/>
            <a:ext cx="4097670" cy="675793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62A284-A53E-DB7B-1BFD-02AE39EFC2DB}"/>
              </a:ext>
            </a:extLst>
          </p:cNvPr>
          <p:cNvSpPr/>
          <p:nvPr/>
        </p:nvSpPr>
        <p:spPr>
          <a:xfrm>
            <a:off x="601667" y="2421296"/>
            <a:ext cx="4097670" cy="848712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3B3BE0-9E4A-446C-C76D-9E7C34EB8198}"/>
              </a:ext>
            </a:extLst>
          </p:cNvPr>
          <p:cNvSpPr/>
          <p:nvPr/>
        </p:nvSpPr>
        <p:spPr>
          <a:xfrm>
            <a:off x="601667" y="3270008"/>
            <a:ext cx="4097670" cy="369332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75B2FE5-1E0D-128E-CB39-4A73546BDCF0}"/>
              </a:ext>
            </a:extLst>
          </p:cNvPr>
          <p:cNvSpPr/>
          <p:nvPr/>
        </p:nvSpPr>
        <p:spPr>
          <a:xfrm>
            <a:off x="601667" y="3639340"/>
            <a:ext cx="4097670" cy="922257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F835C1D-A338-9B02-BBDA-6F63F79D99B3}"/>
              </a:ext>
            </a:extLst>
          </p:cNvPr>
          <p:cNvSpPr/>
          <p:nvPr/>
        </p:nvSpPr>
        <p:spPr>
          <a:xfrm>
            <a:off x="601667" y="4561598"/>
            <a:ext cx="4097670" cy="750326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9D60EEF-E5BB-AB55-3BBB-D8C719BCAC16}"/>
              </a:ext>
            </a:extLst>
          </p:cNvPr>
          <p:cNvSpPr/>
          <p:nvPr/>
        </p:nvSpPr>
        <p:spPr>
          <a:xfrm>
            <a:off x="601667" y="1094968"/>
            <a:ext cx="4097670" cy="649770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AAC33BD-9871-E7DB-E1CB-9BE06CF56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0" t="22939" r="15057" b="5766"/>
          <a:stretch>
            <a:fillRect/>
          </a:stretch>
        </p:blipFill>
        <p:spPr>
          <a:xfrm>
            <a:off x="5363594" y="1934125"/>
            <a:ext cx="6388274" cy="3536632"/>
          </a:xfrm>
          <a:prstGeom prst="rect">
            <a:avLst/>
          </a:prstGeom>
        </p:spPr>
      </p:pic>
      <p:sp>
        <p:nvSpPr>
          <p:cNvPr id="31" name="TextBox 21">
            <a:extLst>
              <a:ext uri="{FF2B5EF4-FFF2-40B4-BE49-F238E27FC236}">
                <a16:creationId xmlns:a16="http://schemas.microsoft.com/office/drawing/2014/main" id="{DAA8279A-7645-39A1-A198-0D5CE48DF7DB}"/>
              </a:ext>
            </a:extLst>
          </p:cNvPr>
          <p:cNvSpPr txBox="1"/>
          <p:nvPr/>
        </p:nvSpPr>
        <p:spPr>
          <a:xfrm>
            <a:off x="5264525" y="609612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Исходный код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100D2C5-CB4A-58F2-0EDB-1B85FA8D5639}"/>
              </a:ext>
            </a:extLst>
          </p:cNvPr>
          <p:cNvSpPr/>
          <p:nvPr/>
        </p:nvSpPr>
        <p:spPr>
          <a:xfrm>
            <a:off x="5363594" y="3301257"/>
            <a:ext cx="6112968" cy="205739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BB5DFF7-0D79-D2BB-7E01-841ACFC5F5C0}"/>
              </a:ext>
            </a:extLst>
          </p:cNvPr>
          <p:cNvSpPr/>
          <p:nvPr/>
        </p:nvSpPr>
        <p:spPr>
          <a:xfrm>
            <a:off x="5363593" y="3499576"/>
            <a:ext cx="6112969" cy="19628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417965-5B08-D1FC-45D9-E9011F48AB0D}"/>
              </a:ext>
            </a:extLst>
          </p:cNvPr>
          <p:cNvSpPr/>
          <p:nvPr/>
        </p:nvSpPr>
        <p:spPr>
          <a:xfrm>
            <a:off x="5363594" y="3675058"/>
            <a:ext cx="6112970" cy="182983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B97E8E4-1508-9D8A-1777-5713FEF0E077}"/>
              </a:ext>
            </a:extLst>
          </p:cNvPr>
          <p:cNvSpPr/>
          <p:nvPr/>
        </p:nvSpPr>
        <p:spPr>
          <a:xfrm>
            <a:off x="5363593" y="3863925"/>
            <a:ext cx="6112971" cy="43672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A5547B7-070D-C7E9-C99C-199A598588D0}"/>
              </a:ext>
            </a:extLst>
          </p:cNvPr>
          <p:cNvSpPr/>
          <p:nvPr/>
        </p:nvSpPr>
        <p:spPr>
          <a:xfrm>
            <a:off x="5363594" y="4424902"/>
            <a:ext cx="6112970" cy="232671"/>
          </a:xfrm>
          <a:prstGeom prst="rect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869109D-A560-B050-69B0-F66494713699}"/>
              </a:ext>
            </a:extLst>
          </p:cNvPr>
          <p:cNvSpPr/>
          <p:nvPr/>
        </p:nvSpPr>
        <p:spPr>
          <a:xfrm>
            <a:off x="5363593" y="3119965"/>
            <a:ext cx="6112967" cy="19495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8" name="Объект 5">
            <a:extLst>
              <a:ext uri="{FF2B5EF4-FFF2-40B4-BE49-F238E27FC236}">
                <a16:creationId xmlns:a16="http://schemas.microsoft.com/office/drawing/2014/main" id="{3E1DC2BC-DAAE-4D1A-9F8F-B920F0DC0458}"/>
              </a:ext>
            </a:extLst>
          </p:cNvPr>
          <p:cNvSpPr>
            <a:spLocks noGrp="1"/>
          </p:cNvSpPr>
          <p:nvPr/>
        </p:nvSpPr>
        <p:spPr>
          <a:xfrm flipH="1">
            <a:off x="11937624" y="6475632"/>
            <a:ext cx="554394" cy="2802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0EB27AD-0AB6-48D9-0ECA-AD5CE0612BC1}"/>
              </a:ext>
            </a:extLst>
          </p:cNvPr>
          <p:cNvSpPr/>
          <p:nvPr/>
        </p:nvSpPr>
        <p:spPr>
          <a:xfrm>
            <a:off x="601667" y="5311923"/>
            <a:ext cx="4097670" cy="849475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C688451-3282-870B-CBA6-291F66200F3F}"/>
              </a:ext>
            </a:extLst>
          </p:cNvPr>
          <p:cNvSpPr/>
          <p:nvPr/>
        </p:nvSpPr>
        <p:spPr>
          <a:xfrm>
            <a:off x="5363590" y="4945543"/>
            <a:ext cx="6112970" cy="436720"/>
          </a:xfrm>
          <a:prstGeom prst="rect">
            <a:avLst/>
          </a:prstGeom>
          <a:solidFill>
            <a:schemeClr val="accent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15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Дерево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47610-5783-AB4E-AF98-8F88A7B0A0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9386"/>
            <a:ext cx="12192000" cy="40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669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Graphviz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242B4-E54C-4A24-9103-49D228ECF994}"/>
              </a:ext>
            </a:extLst>
          </p:cNvPr>
          <p:cNvSpPr txBox="1"/>
          <p:nvPr/>
        </p:nvSpPr>
        <p:spPr>
          <a:xfrm>
            <a:off x="8539701" y="1859339"/>
            <a:ext cx="34979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Graphviz</a:t>
            </a:r>
            <a:r>
              <a:rPr lang="ru-RU" dirty="0"/>
              <a:t> используется как внешний модуль визуализации результатов синтаксического анализа. Поскольку библиотека </a:t>
            </a:r>
            <a:r>
              <a:rPr lang="ru-RU" b="1" dirty="0" err="1"/>
              <a:t>ast</a:t>
            </a:r>
            <a:r>
              <a:rPr lang="ru-RU" dirty="0"/>
              <a:t> выдает структуру кода в текстовом или объектном виде, </a:t>
            </a:r>
            <a:r>
              <a:rPr lang="ru-RU" dirty="0" err="1"/>
              <a:t>Graphviz</a:t>
            </a:r>
            <a:r>
              <a:rPr lang="ru-RU" dirty="0"/>
              <a:t> необходим для преобразования в графическую схему.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5373A6-9902-F23F-500D-836F4C706A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24" y="1567113"/>
            <a:ext cx="7931121" cy="41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6528758" cy="8006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AST analyzer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EB455-E353-F07B-BA5F-BF2CE5E76D20}"/>
              </a:ext>
            </a:extLst>
          </p:cNvPr>
          <p:cNvSpPr txBox="1"/>
          <p:nvPr/>
        </p:nvSpPr>
        <p:spPr>
          <a:xfrm>
            <a:off x="7609398" y="1948070"/>
            <a:ext cx="389129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Код выполняет </a:t>
            </a:r>
            <a:r>
              <a:rPr lang="ru-RU" sz="2800" b="1" dirty="0"/>
              <a:t>комплексный аудит</a:t>
            </a:r>
            <a:r>
              <a:rPr lang="ru-RU" sz="2800" dirty="0"/>
              <a:t> безопасности: он разбирает программу на токены (лексика), строит графическое дерево (синтаксис AST) и имитирует поиск уязвимостей.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139CB8-E7EF-BB07-14EB-B246B7D2F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45" y="1050925"/>
            <a:ext cx="3587758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Статический анализатор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AST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0D8B8-5CBA-45D2-A897-9849D553B3FC}"/>
              </a:ext>
            </a:extLst>
          </p:cNvPr>
          <p:cNvSpPr txBox="1"/>
          <p:nvPr/>
        </p:nvSpPr>
        <p:spPr>
          <a:xfrm>
            <a:off x="7694762" y="1992703"/>
            <a:ext cx="43649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Этот вывод терминала демонстрирует результат работы статического анализатора </a:t>
            </a:r>
            <a:r>
              <a:rPr lang="en-US" dirty="0"/>
              <a:t>AST.</a:t>
            </a:r>
            <a:endParaRPr lang="ru-RU" dirty="0"/>
          </a:p>
          <a:p>
            <a:r>
              <a:rPr lang="ru-RU" dirty="0"/>
              <a:t>Анализатор разбивает исходный код на минимальные значимые единицы — </a:t>
            </a:r>
            <a:r>
              <a:rPr lang="ru-RU" b="1" dirty="0"/>
              <a:t>токены</a:t>
            </a:r>
            <a:r>
              <a:rPr lang="ru-RU" dirty="0"/>
              <a:t> (ключевые слова, идентификаторы, операторы). </a:t>
            </a:r>
          </a:p>
          <a:p>
            <a:r>
              <a:rPr lang="ru-RU" dirty="0"/>
              <a:t>На скриншоте зафиксировано успешное сканирование 135 токенов. </a:t>
            </a:r>
            <a:br>
              <a:rPr lang="ru-RU" dirty="0"/>
            </a:br>
            <a:r>
              <a:rPr lang="ru-RU" dirty="0"/>
              <a:t>В ходе анализа было сформировано и проверено 102 узла дерева, каждый из которых представляет собой логическую конструкцию. </a:t>
            </a:r>
            <a:br>
              <a:rPr lang="ru-RU" dirty="0"/>
            </a:br>
            <a:r>
              <a:rPr lang="ru-RU" dirty="0"/>
              <a:t>Параллельно с консольным выводом программа генерирует графический файл для визуализации связей внутри кода.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BDA49F-71CE-F530-A354-8E7093D7A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60" y="2528707"/>
            <a:ext cx="612543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1BB77-6F80-9B3A-1D88-CC296E7A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4" y="28120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Дерево графического</a:t>
            </a:r>
            <a:b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36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представления</a:t>
            </a:r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49D02F-ACDA-EF6F-F816-24FACD10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5394651-C4A6-E0E4-B102-E85880CB9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5978" y="0"/>
            <a:ext cx="4379926" cy="610967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CCE2A0-1089-AB18-F125-AF96C595D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7" y="1341297"/>
            <a:ext cx="11697694" cy="3914598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4" name="Рамка 13">
            <a:extLst>
              <a:ext uri="{FF2B5EF4-FFF2-40B4-BE49-F238E27FC236}">
                <a16:creationId xmlns:a16="http://schemas.microsoft.com/office/drawing/2014/main" id="{B24F7F24-953D-B0A3-D9AF-28049936881F}"/>
              </a:ext>
            </a:extLst>
          </p:cNvPr>
          <p:cNvSpPr/>
          <p:nvPr/>
        </p:nvSpPr>
        <p:spPr>
          <a:xfrm>
            <a:off x="5960164" y="5074444"/>
            <a:ext cx="240611" cy="145256"/>
          </a:xfrm>
          <a:prstGeom prst="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Рамка 14">
            <a:extLst>
              <a:ext uri="{FF2B5EF4-FFF2-40B4-BE49-F238E27FC236}">
                <a16:creationId xmlns:a16="http://schemas.microsoft.com/office/drawing/2014/main" id="{3D5C931A-C2EB-D123-E5EB-0C49677F394F}"/>
              </a:ext>
            </a:extLst>
          </p:cNvPr>
          <p:cNvSpPr/>
          <p:nvPr/>
        </p:nvSpPr>
        <p:spPr>
          <a:xfrm>
            <a:off x="7586559" y="4338638"/>
            <a:ext cx="240611" cy="145256"/>
          </a:xfrm>
          <a:prstGeom prst="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Рамка 18">
            <a:extLst>
              <a:ext uri="{FF2B5EF4-FFF2-40B4-BE49-F238E27FC236}">
                <a16:creationId xmlns:a16="http://schemas.microsoft.com/office/drawing/2014/main" id="{04831056-7FF9-0209-5E12-8FCDFD24D71F}"/>
              </a:ext>
            </a:extLst>
          </p:cNvPr>
          <p:cNvSpPr/>
          <p:nvPr/>
        </p:nvSpPr>
        <p:spPr>
          <a:xfrm>
            <a:off x="367665" y="5393214"/>
            <a:ext cx="3446994" cy="1221581"/>
          </a:xfrm>
          <a:prstGeom prst="fram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C89DC-AF7F-E63E-E2BE-C705D1598A7A}"/>
              </a:ext>
            </a:extLst>
          </p:cNvPr>
          <p:cNvSpPr txBox="1"/>
          <p:nvPr/>
        </p:nvSpPr>
        <p:spPr>
          <a:xfrm>
            <a:off x="7706864" y="5711615"/>
            <a:ext cx="327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Store</a:t>
            </a:r>
            <a:r>
              <a:rPr lang="en-US" sz="1600" dirty="0"/>
              <a:t> - </a:t>
            </a:r>
            <a:r>
              <a:rPr lang="ru-RU" sz="1600" dirty="0"/>
              <a:t>это режим записи или создания переменной.</a:t>
            </a:r>
          </a:p>
        </p:txBody>
      </p:sp>
      <p:sp>
        <p:nvSpPr>
          <p:cNvPr id="21" name="Рамка 20">
            <a:extLst>
              <a:ext uri="{FF2B5EF4-FFF2-40B4-BE49-F238E27FC236}">
                <a16:creationId xmlns:a16="http://schemas.microsoft.com/office/drawing/2014/main" id="{6403FE33-94A4-4588-CD3D-91D364953952}"/>
              </a:ext>
            </a:extLst>
          </p:cNvPr>
          <p:cNvSpPr/>
          <p:nvPr/>
        </p:nvSpPr>
        <p:spPr>
          <a:xfrm>
            <a:off x="7513320" y="5393213"/>
            <a:ext cx="3611880" cy="1221581"/>
          </a:xfrm>
          <a:prstGeom prst="fram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237FB8-6675-B0DF-00F1-3364014F5C98}"/>
              </a:ext>
            </a:extLst>
          </p:cNvPr>
          <p:cNvSpPr txBox="1"/>
          <p:nvPr/>
        </p:nvSpPr>
        <p:spPr>
          <a:xfrm>
            <a:off x="1440180" y="62331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91900-BED5-4534-254D-D6D61CE14155}"/>
              </a:ext>
            </a:extLst>
          </p:cNvPr>
          <p:cNvSpPr txBox="1"/>
          <p:nvPr/>
        </p:nvSpPr>
        <p:spPr>
          <a:xfrm>
            <a:off x="605846" y="5663060"/>
            <a:ext cx="3004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Load</a:t>
            </a:r>
            <a:r>
              <a:rPr lang="en-US" sz="1600" dirty="0"/>
              <a:t>  - </a:t>
            </a:r>
            <a:r>
              <a:rPr lang="ru-RU" sz="1600" dirty="0"/>
              <a:t>это режим</a:t>
            </a:r>
            <a:endParaRPr lang="en-US" sz="1600" dirty="0"/>
          </a:p>
          <a:p>
            <a:r>
              <a:rPr lang="ru-RU" sz="1600" dirty="0"/>
              <a:t>использования данных</a:t>
            </a:r>
            <a:r>
              <a:rPr lang="en-US" sz="1600" dirty="0"/>
              <a:t> ( c</a:t>
            </a:r>
            <a:r>
              <a:rPr lang="ru-RU" sz="1600" dirty="0" err="1"/>
              <a:t>читываем</a:t>
            </a:r>
            <a:r>
              <a:rPr lang="ru-RU" sz="1600" dirty="0"/>
              <a:t> для вычислений).</a:t>
            </a:r>
          </a:p>
        </p:txBody>
      </p:sp>
      <p:sp>
        <p:nvSpPr>
          <p:cNvPr id="9" name="Рамка 8">
            <a:extLst>
              <a:ext uri="{FF2B5EF4-FFF2-40B4-BE49-F238E27FC236}">
                <a16:creationId xmlns:a16="http://schemas.microsoft.com/office/drawing/2014/main" id="{A9351262-AFDA-EC66-7051-370FA24F9D32}"/>
              </a:ext>
            </a:extLst>
          </p:cNvPr>
          <p:cNvSpPr/>
          <p:nvPr/>
        </p:nvSpPr>
        <p:spPr>
          <a:xfrm>
            <a:off x="9073887" y="1361007"/>
            <a:ext cx="313001" cy="174068"/>
          </a:xfrm>
          <a:prstGeom prst="fram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Рамка 9">
            <a:extLst>
              <a:ext uri="{FF2B5EF4-FFF2-40B4-BE49-F238E27FC236}">
                <a16:creationId xmlns:a16="http://schemas.microsoft.com/office/drawing/2014/main" id="{1DE771DE-C8C9-28E7-39A8-140DFBD63450}"/>
              </a:ext>
            </a:extLst>
          </p:cNvPr>
          <p:cNvSpPr/>
          <p:nvPr/>
        </p:nvSpPr>
        <p:spPr>
          <a:xfrm>
            <a:off x="4008203" y="5393212"/>
            <a:ext cx="3363381" cy="1221581"/>
          </a:xfrm>
          <a:prstGeom prst="fram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65894-2014-9EE4-E837-F0D8F9CB297A}"/>
              </a:ext>
            </a:extLst>
          </p:cNvPr>
          <p:cNvSpPr txBox="1"/>
          <p:nvPr/>
        </p:nvSpPr>
        <p:spPr>
          <a:xfrm>
            <a:off x="4253948" y="5663060"/>
            <a:ext cx="2779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Module – </a:t>
            </a:r>
            <a:r>
              <a:rPr lang="ru-RU" sz="1600" dirty="0"/>
              <a:t>весь файл исходного кода </a:t>
            </a:r>
            <a:r>
              <a:rPr lang="ru-RU" sz="1600" dirty="0" err="1"/>
              <a:t>целикиом</a:t>
            </a:r>
            <a:r>
              <a:rPr lang="ru-RU" sz="1600" dirty="0"/>
              <a:t>, контейнер верхнего уровня</a:t>
            </a:r>
          </a:p>
        </p:txBody>
      </p:sp>
    </p:spTree>
    <p:extLst>
      <p:ext uri="{BB962C8B-B14F-4D97-AF65-F5344CB8AC3E}">
        <p14:creationId xmlns:p14="http://schemas.microsoft.com/office/powerpoint/2010/main" val="340831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E8CD7-8530-EB22-B79C-B8C461AE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Мертвый код 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BD066-D394-4AD3-36BF-2C34FF7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F062FAAE-F77A-D215-CA8F-2775CA1BD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0"/>
            <a:ext cx="12192000" cy="875509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63EAE6-10D6-3DEA-14D5-510963A66699}"/>
              </a:ext>
            </a:extLst>
          </p:cNvPr>
          <p:cNvSpPr txBox="1"/>
          <p:nvPr/>
        </p:nvSpPr>
        <p:spPr>
          <a:xfrm>
            <a:off x="3758316" y="6347897"/>
            <a:ext cx="4675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Исходный код с кодировщиком </a:t>
            </a:r>
            <a:r>
              <a:rPr lang="en-US" dirty="0"/>
              <a:t>base 64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863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E8CD7-8530-EB22-B79C-B8C461AE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09" y="264731"/>
            <a:ext cx="10515600" cy="1325563"/>
          </a:xfrm>
        </p:spPr>
        <p:txBody>
          <a:bodyPr/>
          <a:lstStyle/>
          <a:p>
            <a:r>
              <a:rPr lang="ru-RU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Анализ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м</a:t>
            </a:r>
            <a:r>
              <a:rPr lang="ru-RU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ертвого кода 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BD066-D394-4AD3-36BF-2C34FF7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A65F64B-19B3-EB23-F54D-22B8E1BA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271" y="1285183"/>
            <a:ext cx="4842054" cy="4826851"/>
          </a:xfrm>
          <a:prstGeom prst="rect">
            <a:avLst/>
          </a:prstGeom>
        </p:spPr>
      </p:pic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839EBCD-BD9E-2852-6983-2F4C6483F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09" y="1590294"/>
            <a:ext cx="6535062" cy="319132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B402B-EF2C-9504-F0A4-77A567A96B91}"/>
              </a:ext>
            </a:extLst>
          </p:cNvPr>
          <p:cNvSpPr txBox="1"/>
          <p:nvPr/>
        </p:nvSpPr>
        <p:spPr>
          <a:xfrm>
            <a:off x="0" y="5659645"/>
            <a:ext cx="902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анализатор строит дерево не видя того, что мы спрятали всю основную программу в переменную </a:t>
            </a:r>
            <a:r>
              <a:rPr lang="en-US" sz="2400" dirty="0"/>
              <a:t>data,</a:t>
            </a:r>
            <a:r>
              <a:rPr lang="ru-RU" sz="2400" dirty="0"/>
              <a:t> так как для него это просто обычный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1392430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DEAB3-1307-EFA3-13C3-F0138760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279400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 м</a:t>
            </a:r>
            <a:r>
              <a:rPr lang="ru-RU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ертвого код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а</a:t>
            </a:r>
            <a:r>
              <a:rPr lang="ru-RU" sz="4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9023EE7-0A5C-80E4-AF57-8094983EA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887" y="1338263"/>
            <a:ext cx="7896225" cy="4684271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CBA13E-D152-70EA-C188-E78ACCE5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72B39-D012-6D04-EA6B-BE9FCBC6FB1D}"/>
              </a:ext>
            </a:extLst>
          </p:cNvPr>
          <p:cNvSpPr txBox="1"/>
          <p:nvPr/>
        </p:nvSpPr>
        <p:spPr>
          <a:xfrm>
            <a:off x="4410075" y="6171684"/>
            <a:ext cx="573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мертвого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501701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7969" y="391006"/>
            <a:ext cx="10515600" cy="640714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Недостатки статического анализатора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AST</a:t>
            </a:r>
            <a:endParaRPr lang="ru-RU" sz="20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C5565-61B2-B76F-E4D9-9E9CFE783F8D}"/>
              </a:ext>
            </a:extLst>
          </p:cNvPr>
          <p:cNvSpPr txBox="1"/>
          <p:nvPr/>
        </p:nvSpPr>
        <p:spPr>
          <a:xfrm>
            <a:off x="1500146" y="1795593"/>
            <a:ext cx="91917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Ограниченность одним языком</a:t>
            </a:r>
            <a:endParaRPr lang="en-US" b="1" dirty="0"/>
          </a:p>
          <a:p>
            <a:r>
              <a:rPr lang="en-US" dirty="0"/>
              <a:t>1) </a:t>
            </a:r>
            <a:r>
              <a:rPr lang="ru-RU" dirty="0"/>
              <a:t>Инструмент работает исключительно с </a:t>
            </a:r>
            <a:r>
              <a:rPr lang="ru-RU" b="1" dirty="0"/>
              <a:t>Python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/>
              <a:t>2) </a:t>
            </a:r>
            <a:r>
              <a:rPr lang="ru-RU" dirty="0"/>
              <a:t>Он не предназначен для анализа мультиязычных проектов или кода на C/C++, что часто требуется в реверс-инжиниринге.</a:t>
            </a:r>
            <a:endParaRPr lang="en-US" dirty="0"/>
          </a:p>
          <a:p>
            <a:r>
              <a:rPr lang="ru-RU" b="1" dirty="0"/>
              <a:t>Отсутствие семантического контекста</a:t>
            </a:r>
            <a:endParaRPr lang="en-US" b="1" dirty="0"/>
          </a:p>
          <a:p>
            <a:r>
              <a:rPr lang="en-US" dirty="0"/>
              <a:t>1) </a:t>
            </a:r>
            <a:r>
              <a:rPr lang="ru-RU" dirty="0"/>
              <a:t>Видит структуру (синтаксис), но не понимает значение данных.</a:t>
            </a:r>
          </a:p>
          <a:p>
            <a:r>
              <a:rPr lang="ru-RU" dirty="0"/>
              <a:t>2) Не может отследить, откуда пришла переменная и является ли она ошибочной без написания сложной дополнительной логики. </a:t>
            </a:r>
            <a:endParaRPr lang="en-US" b="1" dirty="0"/>
          </a:p>
          <a:p>
            <a:r>
              <a:rPr lang="ru-RU" b="1" dirty="0"/>
              <a:t>Зависимость от корректности синтаксиса</a:t>
            </a:r>
          </a:p>
          <a:p>
            <a:r>
              <a:rPr lang="en-US" dirty="0"/>
              <a:t>1) </a:t>
            </a:r>
            <a:r>
              <a:rPr lang="ru-RU" dirty="0"/>
              <a:t>Если в анализируемом файле есть хотя бы одна синтаксическая ошибка, </a:t>
            </a:r>
            <a:r>
              <a:rPr lang="en-US" dirty="0"/>
              <a:t>AST </a:t>
            </a:r>
            <a:r>
              <a:rPr lang="ru-RU" dirty="0"/>
              <a:t>вообще не сможет построить дерево и провести анализ.</a:t>
            </a:r>
            <a:endParaRPr lang="en-US" dirty="0"/>
          </a:p>
          <a:p>
            <a:r>
              <a:rPr lang="ru-RU" b="1" dirty="0"/>
              <a:t>Высокий порог вхождения для сложных проверок</a:t>
            </a:r>
            <a:endParaRPr lang="en-US" b="1" dirty="0"/>
          </a:p>
          <a:p>
            <a:r>
              <a:rPr lang="en-US" dirty="0"/>
              <a:t>1) </a:t>
            </a:r>
            <a:r>
              <a:rPr lang="ru-RU" dirty="0"/>
              <a:t>Для поиска простых паттернов он удобен, но для выявления реальных уязвимостей нужно вручную описывать правила обхода дерева.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9896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9D3473F-405A-4C6F-997B-A3443C111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022" y="1420183"/>
            <a:ext cx="11204275" cy="4661439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b="1" i="0" dirty="0">
                <a:effectLst/>
              </a:rPr>
              <a:t>Безопасность:</a:t>
            </a:r>
            <a:r>
              <a:rPr lang="ru-RU" dirty="0"/>
              <a:t> с</a:t>
            </a:r>
            <a:r>
              <a:rPr lang="ru-RU" b="0" i="0" dirty="0">
                <a:effectLst/>
              </a:rPr>
              <a:t>татический анализ на основе AST позволяет глубоко изучить структуру ПО без необходимости его запуска, что критично для безопасности.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0" dirty="0">
                <a:effectLst/>
              </a:rPr>
              <a:t>Прозрачность:</a:t>
            </a:r>
            <a:r>
              <a:rPr lang="ru-RU" b="0" i="0" dirty="0">
                <a:effectLst/>
              </a:rPr>
              <a:t> </a:t>
            </a:r>
            <a:r>
              <a:rPr lang="ru-RU" dirty="0"/>
              <a:t>в</a:t>
            </a:r>
            <a:r>
              <a:rPr lang="ru-RU" b="0" i="0" dirty="0">
                <a:effectLst/>
              </a:rPr>
              <a:t>изуализация через </a:t>
            </a:r>
            <a:r>
              <a:rPr lang="ru-RU" b="0" i="0" dirty="0" err="1">
                <a:effectLst/>
              </a:rPr>
              <a:t>Graphviz</a:t>
            </a:r>
            <a:r>
              <a:rPr lang="ru-RU" b="0" i="0" dirty="0">
                <a:effectLst/>
              </a:rPr>
              <a:t> делает логические связи и "мертвый код" очевидными, упрощая работу исследователя.</a:t>
            </a:r>
            <a:endParaRPr lang="ru-RU" dirty="0"/>
          </a:p>
          <a:p>
            <a:pPr marL="514350" indent="-514350" algn="just">
              <a:buFont typeface="+mj-lt"/>
              <a:buAutoNum type="arabicPeriod"/>
            </a:pPr>
            <a:r>
              <a:rPr lang="ru-RU" b="1" i="0" dirty="0">
                <a:effectLst/>
              </a:rPr>
              <a:t>Эффективность:</a:t>
            </a:r>
            <a:r>
              <a:rPr lang="ru-RU" b="0" i="0" dirty="0">
                <a:effectLst/>
              </a:rPr>
              <a:t> автоматизация </a:t>
            </a:r>
            <a:r>
              <a:rPr lang="ru-RU" b="0" i="0" dirty="0" err="1">
                <a:effectLst/>
              </a:rPr>
              <a:t>токенизации</a:t>
            </a:r>
            <a:r>
              <a:rPr lang="ru-RU" b="0" i="0" dirty="0">
                <a:effectLst/>
              </a:rPr>
              <a:t> и обхода узлов значительно ускоряет этап первичной разведки в процессе реверс-инжиниринга.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0" dirty="0">
                <a:effectLst/>
              </a:rPr>
              <a:t>Перспективы:</a:t>
            </a:r>
            <a:r>
              <a:rPr lang="ru-RU" b="0" i="0" dirty="0">
                <a:effectLst/>
              </a:rPr>
              <a:t> несмотря на ограничения в понимании семантики, AST-анализ является фундаментом для построения автоматизированных систем поиска уязвимостей.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500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1544</TotalTime>
  <Words>749</Words>
  <Application>Microsoft Office PowerPoint</Application>
  <PresentationFormat>Широкоэкранный</PresentationFormat>
  <Paragraphs>99</Paragraphs>
  <Slides>18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Google Sans</vt:lpstr>
      <vt:lpstr>Тема Office</vt:lpstr>
      <vt:lpstr>Технология реверс-инжиниринга Задание 7 </vt:lpstr>
      <vt:lpstr>Оглавление</vt:lpstr>
      <vt:lpstr>AST </vt:lpstr>
      <vt:lpstr>Исходная программа на python </vt:lpstr>
      <vt:lpstr>Код для статического анализа</vt:lpstr>
      <vt:lpstr>Результат выполнения</vt:lpstr>
      <vt:lpstr>Презентация PowerPoint</vt:lpstr>
      <vt:lpstr>Презентация PowerPoint</vt:lpstr>
      <vt:lpstr>Дерево</vt:lpstr>
      <vt:lpstr>Graphviz</vt:lpstr>
      <vt:lpstr>AST analyzer</vt:lpstr>
      <vt:lpstr>Статический анализатор AST</vt:lpstr>
      <vt:lpstr>Дерево графического представления</vt:lpstr>
      <vt:lpstr>Мертвый код  </vt:lpstr>
      <vt:lpstr>Анализ мертвого кода  </vt:lpstr>
      <vt:lpstr>Вывод мертвого кода </vt:lpstr>
      <vt:lpstr>Недостатки статического анализатора AST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Иконников Илья Сергеевич</cp:lastModifiedBy>
  <cp:revision>247</cp:revision>
  <dcterms:created xsi:type="dcterms:W3CDTF">2021-11-29T10:22:08Z</dcterms:created>
  <dcterms:modified xsi:type="dcterms:W3CDTF">2026-05-14T09:18:36Z</dcterms:modified>
</cp:coreProperties>
</file>