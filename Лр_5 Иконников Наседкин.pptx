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7" r:id="rId2"/>
    <p:sldId id="259" r:id="rId3"/>
    <p:sldId id="281" r:id="rId4"/>
    <p:sldId id="295" r:id="rId5"/>
    <p:sldId id="296" r:id="rId6"/>
    <p:sldId id="290" r:id="rId7"/>
    <p:sldId id="286" r:id="rId8"/>
    <p:sldId id="282" r:id="rId9"/>
    <p:sldId id="283" r:id="rId10"/>
    <p:sldId id="287" r:id="rId11"/>
    <p:sldId id="297" r:id="rId12"/>
    <p:sldId id="309" r:id="rId13"/>
    <p:sldId id="298" r:id="rId14"/>
    <p:sldId id="299" r:id="rId15"/>
    <p:sldId id="300" r:id="rId16"/>
    <p:sldId id="301" r:id="rId17"/>
    <p:sldId id="307" r:id="rId18"/>
    <p:sldId id="302" r:id="rId19"/>
    <p:sldId id="308" r:id="rId20"/>
    <p:sldId id="303" r:id="rId21"/>
    <p:sldId id="304" r:id="rId22"/>
    <p:sldId id="305" r:id="rId23"/>
    <p:sldId id="306" r:id="rId24"/>
    <p:sldId id="310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82" autoAdjust="0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30.04.2026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30.04.2026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30.04.2026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30.04.2026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30.04.2026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30.04.2026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Иконников И.С.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Наседкин Т.Ф.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файла  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2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C65D9E9-8E1E-50EC-D128-ED15DBE23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48" y="1446949"/>
            <a:ext cx="9048704" cy="5045926"/>
          </a:xfrm>
        </p:spPr>
      </p:pic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dump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010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17958EF-159F-47F0-6F34-0E6A91421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734" y="1825625"/>
            <a:ext cx="392453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290DA-5646-3BE5-359B-7E25E95A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 в 010 </a:t>
            </a:r>
            <a:r>
              <a:rPr lang="en-US" dirty="0"/>
              <a:t>editor (5.3720)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32E40A-26AE-BD7F-EAED-9B5EEB75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4446C29-2E1A-5E21-A463-DAC59E12C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90" y="1531109"/>
            <a:ext cx="8997906" cy="4825241"/>
          </a:xfrm>
        </p:spPr>
      </p:pic>
    </p:spTree>
    <p:extLst>
      <p:ext uri="{BB962C8B-B14F-4D97-AF65-F5344CB8AC3E}">
        <p14:creationId xmlns:p14="http://schemas.microsoft.com/office/powerpoint/2010/main" val="155644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FFBA7-A312-484B-5E09-694FFF4D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Гистограмма в </a:t>
            </a:r>
            <a:r>
              <a:rPr lang="en-US" dirty="0"/>
              <a:t>010 editor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C1FCA1-39FD-1807-68F2-596BD9917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99" y="1825625"/>
            <a:ext cx="7405201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7E47A2-E9E8-10A0-00CD-5418DA2A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176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A53D7-40D4-5EA2-A5E6-8B97DC37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 файле в </a:t>
            </a:r>
            <a:r>
              <a:rPr lang="en-US" dirty="0" err="1"/>
              <a:t>radare</a:t>
            </a:r>
            <a:r>
              <a:rPr lang="en-US" dirty="0"/>
              <a:t> 2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8E05B26-6427-0E15-7D55-8E059C2A7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180" y="1558401"/>
            <a:ext cx="6894747" cy="504997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F15379-36D2-E626-9C9D-B53867FE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22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51B063A-F531-9FE9-9241-F405CFB23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766" y="1835477"/>
            <a:ext cx="8358393" cy="4579229"/>
          </a:xfrm>
        </p:spPr>
      </p:pic>
    </p:spTree>
    <p:extLst>
      <p:ext uri="{BB962C8B-B14F-4D97-AF65-F5344CB8AC3E}">
        <p14:creationId xmlns:p14="http://schemas.microsoft.com/office/powerpoint/2010/main" val="29723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51" y="-161133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265C0CD-ACB3-1AEB-AE3C-0564672CF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8" y="1598212"/>
            <a:ext cx="10291655" cy="500656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90" y="10361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B19FABD-0A24-8881-50F0-6AED493BD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429175"/>
            <a:ext cx="10988703" cy="480812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974F9-0FC1-9693-9326-665E932C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27" y="13206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B137A16-38FF-5AAB-79EE-946129B43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110" y="1637017"/>
            <a:ext cx="7685048" cy="453994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AFE7CA-8157-61FE-79BE-484B8879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68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F23E7-D676-54B7-0FEA-E2B29F6D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C2EFCB-47CB-A80B-1F82-AA92D86F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11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9C761FC-E073-E9EE-012A-24EB6013C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53331"/>
            <a:ext cx="10142743" cy="4351338"/>
          </a:xfr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C0A4089-6A13-821E-3111-A687078D53C6}"/>
              </a:ext>
            </a:extLst>
          </p:cNvPr>
          <p:cNvSpPr/>
          <p:nvPr/>
        </p:nvSpPr>
        <p:spPr>
          <a:xfrm>
            <a:off x="2409245" y="3795040"/>
            <a:ext cx="1773142" cy="36933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94530-6F17-2F67-F4F3-6638352B0830}"/>
              </a:ext>
            </a:extLst>
          </p:cNvPr>
          <p:cNvSpPr txBox="1"/>
          <p:nvPr/>
        </p:nvSpPr>
        <p:spPr>
          <a:xfrm>
            <a:off x="4482092" y="3775710"/>
            <a:ext cx="342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Зашифрованные данные в стеке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983F082-CDBC-AD7C-5388-96B53AE88F8E}"/>
              </a:ext>
            </a:extLst>
          </p:cNvPr>
          <p:cNvSpPr/>
          <p:nvPr/>
        </p:nvSpPr>
        <p:spPr>
          <a:xfrm>
            <a:off x="2107097" y="4683318"/>
            <a:ext cx="1622065" cy="1250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9A397-AE4D-88F0-7729-53095F0203AB}"/>
              </a:ext>
            </a:extLst>
          </p:cNvPr>
          <p:cNvSpPr txBox="1"/>
          <p:nvPr/>
        </p:nvSpPr>
        <p:spPr>
          <a:xfrm>
            <a:off x="4480766" y="4551690"/>
            <a:ext cx="4780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Предположительно это функция расшифровки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4451BF-B017-CBE5-FF4D-ADE0AC3E0F8B}"/>
              </a:ext>
            </a:extLst>
          </p:cNvPr>
          <p:cNvSpPr/>
          <p:nvPr/>
        </p:nvSpPr>
        <p:spPr>
          <a:xfrm>
            <a:off x="2107097" y="4344624"/>
            <a:ext cx="1622065" cy="1250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727FDB-6F3E-C960-2A9A-6BA21B0CA289}"/>
              </a:ext>
            </a:extLst>
          </p:cNvPr>
          <p:cNvSpPr txBox="1"/>
          <p:nvPr/>
        </p:nvSpPr>
        <p:spPr>
          <a:xfrm>
            <a:off x="4482092" y="4283541"/>
            <a:ext cx="6094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12 символов, длина пароля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A6C6C5F-5266-9311-553F-4EA881F7E128}"/>
              </a:ext>
            </a:extLst>
          </p:cNvPr>
          <p:cNvSpPr/>
          <p:nvPr/>
        </p:nvSpPr>
        <p:spPr>
          <a:xfrm>
            <a:off x="2107097" y="4222461"/>
            <a:ext cx="1622065" cy="1221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162A9-45E7-0489-D0DB-E3F148536C0B}"/>
              </a:ext>
            </a:extLst>
          </p:cNvPr>
          <p:cNvSpPr txBox="1"/>
          <p:nvPr/>
        </p:nvSpPr>
        <p:spPr>
          <a:xfrm>
            <a:off x="4482092" y="414504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0</a:t>
            </a:r>
            <a:r>
              <a:rPr lang="en-US" sz="1200" dirty="0"/>
              <a:t>xf0</a:t>
            </a:r>
            <a:r>
              <a:rPr lang="ru-RU" sz="1200" dirty="0"/>
              <a:t> ключ</a:t>
            </a:r>
          </a:p>
        </p:txBody>
      </p:sp>
    </p:spTree>
    <p:extLst>
      <p:ext uri="{BB962C8B-B14F-4D97-AF65-F5344CB8AC3E}">
        <p14:creationId xmlns:p14="http://schemas.microsoft.com/office/powerpoint/2010/main" val="347212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1CAFC-6827-A2EE-C154-2A60173F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fcn.1400011c0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FA6A6-67B3-61C8-21FC-40FE1640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12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A0A1096E-90B1-2684-650E-FB47E50C1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03" y="1662001"/>
            <a:ext cx="10166046" cy="2361518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206ADE-E587-00A1-9A20-99B2C4AF8DF8}"/>
              </a:ext>
            </a:extLst>
          </p:cNvPr>
          <p:cNvSpPr txBox="1"/>
          <p:nvPr/>
        </p:nvSpPr>
        <p:spPr>
          <a:xfrm>
            <a:off x="4160520" y="2057400"/>
            <a:ext cx="906780" cy="4191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719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125D8-62F6-6C6E-D6A4-0D6CA806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Разгадка пароля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1E825E3-296F-E2B1-D59B-D174DE1F9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4248"/>
            <a:ext cx="2219635" cy="45726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D736F5-5D16-2678-8866-757539E3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E5637-7F82-E03C-65BD-16649F27C8D3}"/>
              </a:ext>
            </a:extLst>
          </p:cNvPr>
          <p:cNvSpPr txBox="1"/>
          <p:nvPr/>
        </p:nvSpPr>
        <p:spPr>
          <a:xfrm>
            <a:off x="166977" y="2046473"/>
            <a:ext cx="44209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Из-за порядка байтов </a:t>
            </a:r>
            <a:r>
              <a:rPr lang="ru-RU" b="1" dirty="0"/>
              <a:t>Little-</a:t>
            </a:r>
            <a:r>
              <a:rPr lang="ru-RU" b="1" dirty="0" err="1"/>
              <a:t>Endian</a:t>
            </a:r>
            <a:r>
              <a:rPr lang="ru-RU" dirty="0"/>
              <a:t> (младший байт первым), данные записываются следующим образом </a:t>
            </a:r>
            <a:br>
              <a:rPr lang="ru-RU" dirty="0"/>
            </a:br>
            <a:r>
              <a:rPr lang="en-US" dirty="0"/>
              <a:t>0x8a838293</a:t>
            </a:r>
            <a:r>
              <a:rPr lang="ru-RU" dirty="0"/>
              <a:t> -  93 82 83 8А</a:t>
            </a:r>
            <a:br>
              <a:rPr lang="ru-RU" dirty="0"/>
            </a:br>
            <a:r>
              <a:rPr lang="en-US" dirty="0"/>
              <a:t>0x8d938886</a:t>
            </a:r>
            <a:r>
              <a:rPr lang="ru-RU" dirty="0"/>
              <a:t> - </a:t>
            </a:r>
            <a:r>
              <a:rPr lang="en-US" dirty="0"/>
              <a:t>86 88 93 8D</a:t>
            </a:r>
            <a:br>
              <a:rPr lang="ru-RU" dirty="0"/>
            </a:br>
            <a:r>
              <a:rPr lang="en-US" dirty="0"/>
              <a:t>0x97879680</a:t>
            </a:r>
            <a:r>
              <a:rPr lang="ru-RU" dirty="0"/>
              <a:t> - 80 96 87 97</a:t>
            </a:r>
            <a:br>
              <a:rPr lang="ru-RU" dirty="0"/>
            </a:br>
            <a:r>
              <a:rPr lang="ru-RU" dirty="0"/>
              <a:t>Итоговый массив зашифрованных данных </a:t>
            </a:r>
            <a:r>
              <a:rPr lang="pt-BR" dirty="0"/>
              <a:t>93 82 83 8A 86 88 93 8D 80 96 87 97</a:t>
            </a:r>
            <a:br>
              <a:rPr lang="ru-RU" dirty="0"/>
            </a:b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D2A61-8169-1F30-2E69-C9B84C53F1A8}"/>
              </a:ext>
            </a:extLst>
          </p:cNvPr>
          <p:cNvSpPr txBox="1"/>
          <p:nvPr/>
        </p:nvSpPr>
        <p:spPr>
          <a:xfrm>
            <a:off x="7208520" y="704740"/>
            <a:ext cx="4398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Используя </a:t>
            </a:r>
            <a:r>
              <a:rPr lang="en-US" b="0" i="0" dirty="0">
                <a:solidFill>
                  <a:srgbClr val="222222"/>
                </a:solidFill>
                <a:effectLst/>
                <a:latin typeface="normal Helvetica"/>
              </a:rPr>
              <a:t>XOR Calculator</a:t>
            </a:r>
          </a:p>
          <a:p>
            <a:r>
              <a:rPr lang="ru-RU" dirty="0"/>
              <a:t>И таблицу </a:t>
            </a:r>
            <a:r>
              <a:rPr lang="en-US" dirty="0"/>
              <a:t>ASCII </a:t>
            </a:r>
            <a:r>
              <a:rPr lang="ru-RU" dirty="0"/>
              <a:t>мы сделали такую таблицу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A144DD4C-9BBD-80A1-4C36-EBBB093D7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14006"/>
              </p:ext>
            </p:extLst>
          </p:nvPr>
        </p:nvGraphicFramePr>
        <p:xfrm>
          <a:off x="6430723" y="1351071"/>
          <a:ext cx="5594300" cy="5086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575">
                  <a:extLst>
                    <a:ext uri="{9D8B030D-6E8A-4147-A177-3AD203B41FA5}">
                      <a16:colId xmlns:a16="http://schemas.microsoft.com/office/drawing/2014/main" val="1102331353"/>
                    </a:ext>
                  </a:extLst>
                </a:gridCol>
                <a:gridCol w="1398575">
                  <a:extLst>
                    <a:ext uri="{9D8B030D-6E8A-4147-A177-3AD203B41FA5}">
                      <a16:colId xmlns:a16="http://schemas.microsoft.com/office/drawing/2014/main" val="1867834780"/>
                    </a:ext>
                  </a:extLst>
                </a:gridCol>
                <a:gridCol w="1398575">
                  <a:extLst>
                    <a:ext uri="{9D8B030D-6E8A-4147-A177-3AD203B41FA5}">
                      <a16:colId xmlns:a16="http://schemas.microsoft.com/office/drawing/2014/main" val="4028678314"/>
                    </a:ext>
                  </a:extLst>
                </a:gridCol>
                <a:gridCol w="1398575">
                  <a:extLst>
                    <a:ext uri="{9D8B030D-6E8A-4147-A177-3AD203B41FA5}">
                      <a16:colId xmlns:a16="http://schemas.microsoft.com/office/drawing/2014/main" val="220506808"/>
                    </a:ext>
                  </a:extLst>
                </a:gridCol>
              </a:tblGrid>
              <a:tr h="646101">
                <a:tc>
                  <a:txBody>
                    <a:bodyPr/>
                    <a:lstStyle/>
                    <a:p>
                      <a:r>
                        <a:rPr lang="en-US" dirty="0"/>
                        <a:t>Hex </a:t>
                      </a:r>
                      <a:r>
                        <a:rPr lang="ru-RU" dirty="0"/>
                        <a:t>байт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 0XF0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ASCII </a:t>
                      </a:r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17632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`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045809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09467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24435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8A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87108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941120"/>
                  </a:ext>
                </a:extLst>
              </a:tr>
              <a:tr h="378966"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841259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788202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8D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}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912676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036037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72892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13664"/>
                  </a:ext>
                </a:extLst>
              </a:tr>
              <a:tr h="369201"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 ^ F0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6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39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B1390-30F7-BCFB-80BC-C4190AB1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сообщения при вводе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80A7A44-9D56-B047-A2C2-5179AD3E7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669" y="2149426"/>
            <a:ext cx="5586142" cy="951583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6DF271-937C-9F26-2FAF-3B8AE7AA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80866B-5480-D6B6-876A-871A857AC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247" y="4232782"/>
            <a:ext cx="4632986" cy="105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77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0786-F05D-4BD6-7EA3-5D3D5818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1849-7CE4-B145-1C2F-274FD1CB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Дизассемблированный код в </a:t>
            </a:r>
            <a:r>
              <a:rPr lang="en-US" dirty="0" err="1"/>
              <a:t>Ghidra</a:t>
            </a:r>
            <a:r>
              <a:rPr lang="ru-RU" dirty="0"/>
              <a:t> (1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BFC2-437D-3FF0-739E-2B8216CD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15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409985B-3D58-56B7-C2AA-74F951C1F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704" y="1954153"/>
            <a:ext cx="5705560" cy="37272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A7B7A9-3DE2-3B0C-8282-9372E10A7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64" y="2000192"/>
            <a:ext cx="5127943" cy="36352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AB035F-B939-F95F-834C-9DA74EF21FB8}"/>
              </a:ext>
            </a:extLst>
          </p:cNvPr>
          <p:cNvSpPr/>
          <p:nvPr/>
        </p:nvSpPr>
        <p:spPr>
          <a:xfrm>
            <a:off x="6202017" y="2464904"/>
            <a:ext cx="3419061" cy="58839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E382FEF-5D29-0EEC-70AD-902480B0CDEB}"/>
              </a:ext>
            </a:extLst>
          </p:cNvPr>
          <p:cNvSpPr/>
          <p:nvPr/>
        </p:nvSpPr>
        <p:spPr>
          <a:xfrm>
            <a:off x="6202017" y="3260034"/>
            <a:ext cx="3419061" cy="30401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84FDBCA-A91B-CDE8-4C28-F32DE43680C7}"/>
              </a:ext>
            </a:extLst>
          </p:cNvPr>
          <p:cNvSpPr/>
          <p:nvPr/>
        </p:nvSpPr>
        <p:spPr>
          <a:xfrm>
            <a:off x="6202016" y="3839540"/>
            <a:ext cx="3419061" cy="1997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106CF-B9D4-F15E-6D10-C4D53C35AB4F}"/>
              </a:ext>
            </a:extLst>
          </p:cNvPr>
          <p:cNvSpPr txBox="1"/>
          <p:nvPr/>
        </p:nvSpPr>
        <p:spPr>
          <a:xfrm>
            <a:off x="9621077" y="2510337"/>
            <a:ext cx="2614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Зашифрованные данные в стеке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272BB-52B2-CBB9-0480-CA4FA8405ED5}"/>
              </a:ext>
            </a:extLst>
          </p:cNvPr>
          <p:cNvSpPr txBox="1"/>
          <p:nvPr/>
        </p:nvSpPr>
        <p:spPr>
          <a:xfrm>
            <a:off x="9621077" y="3165895"/>
            <a:ext cx="6118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0</a:t>
            </a:r>
            <a:r>
              <a:rPr lang="en-US" sz="1200" dirty="0"/>
              <a:t>xf0</a:t>
            </a:r>
            <a:r>
              <a:rPr lang="ru-RU" sz="1200" dirty="0"/>
              <a:t> ключ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EE7F3-37C5-7D2F-DA1A-F1B247F99CD6}"/>
              </a:ext>
            </a:extLst>
          </p:cNvPr>
          <p:cNvSpPr txBox="1"/>
          <p:nvPr/>
        </p:nvSpPr>
        <p:spPr>
          <a:xfrm>
            <a:off x="9560357" y="3354404"/>
            <a:ext cx="7871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12 символов, длина пароля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E946D-B8D8-D5DD-4733-AAEDF7372C07}"/>
              </a:ext>
            </a:extLst>
          </p:cNvPr>
          <p:cNvSpPr txBox="1"/>
          <p:nvPr/>
        </p:nvSpPr>
        <p:spPr>
          <a:xfrm>
            <a:off x="9560357" y="3786030"/>
            <a:ext cx="871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это функция расшифровки</a:t>
            </a:r>
          </a:p>
        </p:txBody>
      </p:sp>
    </p:spTree>
    <p:extLst>
      <p:ext uri="{BB962C8B-B14F-4D97-AF65-F5344CB8AC3E}">
        <p14:creationId xmlns:p14="http://schemas.microsoft.com/office/powerpoint/2010/main" val="150468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8F0E-1A26-AD4C-00F6-B2202413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B842-EB88-3A91-3EC8-84D47C22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Дизассемблированный код в </a:t>
            </a:r>
            <a:r>
              <a:rPr lang="en-US" dirty="0" err="1"/>
              <a:t>Ghidra</a:t>
            </a:r>
            <a:r>
              <a:rPr lang="ru-RU" dirty="0"/>
              <a:t> (2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6F01B-297E-2009-7FE0-A69BA960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16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98DD44A-111E-4B8F-816C-81B805B22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42" y="1864905"/>
            <a:ext cx="5953258" cy="37599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1C991C-0D1C-76FE-0EC1-0839BB71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73" y="1864905"/>
            <a:ext cx="5268160" cy="3837369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185B25-AE63-8666-7BDE-D71E13F220C9}"/>
              </a:ext>
            </a:extLst>
          </p:cNvPr>
          <p:cNvSpPr/>
          <p:nvPr/>
        </p:nvSpPr>
        <p:spPr>
          <a:xfrm>
            <a:off x="413468" y="5176298"/>
            <a:ext cx="3228229" cy="2226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416C79-355E-745D-5761-3C055E097D59}"/>
              </a:ext>
            </a:extLst>
          </p:cNvPr>
          <p:cNvSpPr/>
          <p:nvPr/>
        </p:nvSpPr>
        <p:spPr>
          <a:xfrm>
            <a:off x="6252857" y="1826196"/>
            <a:ext cx="3114739" cy="23398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A12E69-3BEE-FD70-5B07-7761F18AAC95}"/>
              </a:ext>
            </a:extLst>
          </p:cNvPr>
          <p:cNvSpPr/>
          <p:nvPr/>
        </p:nvSpPr>
        <p:spPr>
          <a:xfrm>
            <a:off x="6252856" y="2422176"/>
            <a:ext cx="3114739" cy="23398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984A61-446D-24A0-470D-9014BFA945E9}"/>
              </a:ext>
            </a:extLst>
          </p:cNvPr>
          <p:cNvSpPr/>
          <p:nvPr/>
        </p:nvSpPr>
        <p:spPr>
          <a:xfrm>
            <a:off x="6231172" y="2880974"/>
            <a:ext cx="3136423" cy="23398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A9B39-BC66-5A35-0D30-1BD3CD35ADCA}"/>
              </a:ext>
            </a:extLst>
          </p:cNvPr>
          <p:cNvSpPr txBox="1"/>
          <p:nvPr/>
        </p:nvSpPr>
        <p:spPr>
          <a:xfrm>
            <a:off x="9367595" y="1698698"/>
            <a:ext cx="2417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загрузка зашифрованных данных сообщения из памяти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E0325C-D859-4806-EB83-1E4EF48C9367}"/>
              </a:ext>
            </a:extLst>
          </p:cNvPr>
          <p:cNvSpPr txBox="1"/>
          <p:nvPr/>
        </p:nvSpPr>
        <p:spPr>
          <a:xfrm>
            <a:off x="3641697" y="5072172"/>
            <a:ext cx="2423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загрузка зашифрованных данных сообщения из памяти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1A92A-D8D8-5823-1BE3-9235BF09A154}"/>
              </a:ext>
            </a:extLst>
          </p:cNvPr>
          <p:cNvSpPr txBox="1"/>
          <p:nvPr/>
        </p:nvSpPr>
        <p:spPr>
          <a:xfrm>
            <a:off x="9367595" y="285457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вызов функции расшифровки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F9CE5-76B5-B9B0-ED4D-7C55B3858565}"/>
              </a:ext>
            </a:extLst>
          </p:cNvPr>
          <p:cNvSpPr txBox="1"/>
          <p:nvPr/>
        </p:nvSpPr>
        <p:spPr>
          <a:xfrm>
            <a:off x="9367595" y="2328000"/>
            <a:ext cx="7730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установка ключа шифрования 0</a:t>
            </a:r>
            <a:r>
              <a:rPr lang="en-US" sz="1200" dirty="0"/>
              <a:t>x42</a:t>
            </a:r>
            <a:endParaRPr lang="ru-R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9763D-785E-05B2-FE53-1C142269E616}"/>
              </a:ext>
            </a:extLst>
          </p:cNvPr>
          <p:cNvSpPr txBox="1"/>
          <p:nvPr/>
        </p:nvSpPr>
        <p:spPr>
          <a:xfrm>
            <a:off x="9367595" y="2474808"/>
            <a:ext cx="1412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Длина сообщения </a:t>
            </a:r>
          </a:p>
        </p:txBody>
      </p:sp>
    </p:spTree>
    <p:extLst>
      <p:ext uri="{BB962C8B-B14F-4D97-AF65-F5344CB8AC3E}">
        <p14:creationId xmlns:p14="http://schemas.microsoft.com/office/powerpoint/2010/main" val="1130630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E50E2-31F7-0E98-C81F-737A1228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 </a:t>
            </a:r>
            <a:r>
              <a:rPr lang="en-US" dirty="0"/>
              <a:t>0x140003440</a:t>
            </a:r>
            <a:r>
              <a:rPr lang="ru-RU" dirty="0"/>
              <a:t> и </a:t>
            </a:r>
            <a:r>
              <a:rPr lang="en-US" dirty="0"/>
              <a:t>0x140003430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0D72D-5B00-5B88-9196-3AA038E38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509EAF-B70A-398F-F11B-38D84625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658D4E-4A2D-4039-1C4D-CCDCDD0F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7" y="1485476"/>
            <a:ext cx="4124901" cy="36962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8B695B-626B-5262-AE50-E747D451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008" y="1485476"/>
            <a:ext cx="4172532" cy="36485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3836DA-44A4-659D-AD40-47B47F3F83C0}"/>
              </a:ext>
            </a:extLst>
          </p:cNvPr>
          <p:cNvSpPr txBox="1"/>
          <p:nvPr/>
        </p:nvSpPr>
        <p:spPr>
          <a:xfrm>
            <a:off x="725807" y="5015547"/>
            <a:ext cx="10736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dirty="0"/>
            </a:br>
            <a:r>
              <a:rPr lang="ru-RU" dirty="0"/>
              <a:t>Зашифрованное сообщение</a:t>
            </a:r>
          </a:p>
          <a:p>
            <a:pPr algn="ctr"/>
            <a:r>
              <a:rPr lang="ru-RU" dirty="0"/>
              <a:t> 2</a:t>
            </a:r>
            <a:r>
              <a:rPr lang="en-US" dirty="0"/>
              <a:t>a 2d 3e 3c 29 2b 08 30 3c 2b 2e 2d 2a 08 2a 30 3e 2b 2a 08 2e 2d 2c 2d 2a 30 08 2e 2f 3c 2b 08</a:t>
            </a:r>
            <a:endParaRPr lang="ru-RU" dirty="0"/>
          </a:p>
          <a:p>
            <a:pPr algn="ctr"/>
            <a:r>
              <a:rPr lang="ru-RU" dirty="0"/>
              <a:t>Расшифрованный сообщение алгоритм </a:t>
            </a:r>
            <a:r>
              <a:rPr lang="en-US" dirty="0" err="1"/>
              <a:t>xor</a:t>
            </a:r>
            <a:r>
              <a:rPr lang="en-US" dirty="0"/>
              <a:t> </a:t>
            </a:r>
            <a:r>
              <a:rPr lang="ru-RU" dirty="0"/>
              <a:t>(ключ  </a:t>
            </a:r>
            <a:r>
              <a:rPr lang="en-US" dirty="0"/>
              <a:t>0x42</a:t>
            </a:r>
            <a:r>
              <a:rPr lang="ru-RU" dirty="0"/>
              <a:t>)</a:t>
            </a:r>
            <a:br>
              <a:rPr lang="ru-RU" dirty="0"/>
            </a:br>
            <a:r>
              <a:rPr lang="en-US" dirty="0"/>
              <a:t>ho|~</a:t>
            </a:r>
            <a:r>
              <a:rPr lang="en-US" dirty="0" err="1"/>
              <a:t>kiJr~ilohhr|ihjlonohrJlmo~iJ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590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9F07-2CEA-0D9B-2BA0-230E50D0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CAFE-EE85-31B5-FF43-04BD788B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Дизассемблированный код в </a:t>
            </a:r>
            <a:r>
              <a:rPr lang="en-US" dirty="0" err="1"/>
              <a:t>Ghidra</a:t>
            </a:r>
            <a:r>
              <a:rPr lang="ru-RU" dirty="0"/>
              <a:t> (3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1EFED-3586-78E2-B161-9CA57E55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18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1C22853-B5B8-A469-EADA-C9D052886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37" y="1705559"/>
            <a:ext cx="5873874" cy="41299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3DDCBB-C53D-A776-DEA3-C1DB2B12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41"/>
          <a:stretch>
            <a:fillRect/>
          </a:stretch>
        </p:blipFill>
        <p:spPr>
          <a:xfrm>
            <a:off x="6190511" y="1630818"/>
            <a:ext cx="5821143" cy="4279457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C7D87A6-66E3-A6BE-E5C7-37C882D54AAC}"/>
              </a:ext>
            </a:extLst>
          </p:cNvPr>
          <p:cNvSpPr/>
          <p:nvPr/>
        </p:nvSpPr>
        <p:spPr>
          <a:xfrm>
            <a:off x="667910" y="5192202"/>
            <a:ext cx="3482671" cy="3896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2DB918-CACD-ADE0-87E5-846C701FC855}"/>
              </a:ext>
            </a:extLst>
          </p:cNvPr>
          <p:cNvSpPr/>
          <p:nvPr/>
        </p:nvSpPr>
        <p:spPr>
          <a:xfrm>
            <a:off x="732846" y="4287078"/>
            <a:ext cx="3417735" cy="30082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C431EB-A5BC-8774-82F9-6949CCC0C968}"/>
              </a:ext>
            </a:extLst>
          </p:cNvPr>
          <p:cNvSpPr/>
          <p:nvPr/>
        </p:nvSpPr>
        <p:spPr>
          <a:xfrm>
            <a:off x="6190511" y="1510752"/>
            <a:ext cx="3482671" cy="3896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1FB5E-5EE3-7107-30D6-2B0FAA8357C9}"/>
              </a:ext>
            </a:extLst>
          </p:cNvPr>
          <p:cNvSpPr txBox="1"/>
          <p:nvPr/>
        </p:nvSpPr>
        <p:spPr>
          <a:xfrm>
            <a:off x="4150581" y="4222046"/>
            <a:ext cx="2346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загрузка зашифрованных данных сообщения из памяти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EFAD5-CC37-CA05-4C15-4400F0FFA35A}"/>
              </a:ext>
            </a:extLst>
          </p:cNvPr>
          <p:cNvSpPr txBox="1"/>
          <p:nvPr/>
        </p:nvSpPr>
        <p:spPr>
          <a:xfrm>
            <a:off x="4091940" y="523775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Длина сообщения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7547B3-9463-4F18-672C-B99F18399C42}"/>
              </a:ext>
            </a:extLst>
          </p:cNvPr>
          <p:cNvSpPr txBox="1"/>
          <p:nvPr/>
        </p:nvSpPr>
        <p:spPr>
          <a:xfrm>
            <a:off x="4091940" y="5099008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установка ключа шифрования 0</a:t>
            </a:r>
            <a:r>
              <a:rPr lang="en-US" sz="1050" dirty="0"/>
              <a:t>x2a</a:t>
            </a:r>
            <a:endParaRPr lang="ru-RU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F6806-2BA7-2227-8F06-7E8EF59993E3}"/>
              </a:ext>
            </a:extLst>
          </p:cNvPr>
          <p:cNvSpPr txBox="1"/>
          <p:nvPr/>
        </p:nvSpPr>
        <p:spPr>
          <a:xfrm>
            <a:off x="9585960" y="152617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вызов функции расшифровки</a:t>
            </a:r>
          </a:p>
        </p:txBody>
      </p:sp>
    </p:spTree>
    <p:extLst>
      <p:ext uri="{BB962C8B-B14F-4D97-AF65-F5344CB8AC3E}">
        <p14:creationId xmlns:p14="http://schemas.microsoft.com/office/powerpoint/2010/main" val="2822726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B0C38-79FF-13FB-C9EC-A914E9FA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 140003450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F3338-7F1B-AD00-E238-98E0A98E6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239914-5836-15CA-81E2-51E1C3F2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E80329-FFBB-3548-39EC-7FEF7E925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938" y="1825625"/>
            <a:ext cx="4058216" cy="36962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EC68FD-D99C-C803-652B-5CB3EF1FA9C2}"/>
              </a:ext>
            </a:extLst>
          </p:cNvPr>
          <p:cNvSpPr txBox="1"/>
          <p:nvPr/>
        </p:nvSpPr>
        <p:spPr>
          <a:xfrm>
            <a:off x="2939333" y="5566291"/>
            <a:ext cx="6094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Зашифрованное сообщение </a:t>
            </a:r>
          </a:p>
          <a:p>
            <a:pPr algn="ctr"/>
            <a:r>
              <a:rPr lang="ru-RU" dirty="0"/>
              <a:t>5с 49 4</a:t>
            </a:r>
            <a:r>
              <a:rPr lang="en-US" dirty="0"/>
              <a:t>a</a:t>
            </a:r>
            <a:r>
              <a:rPr lang="ru-RU" dirty="0"/>
              <a:t> 53 58 08 </a:t>
            </a:r>
            <a:r>
              <a:rPr lang="en-US" dirty="0"/>
              <a:t>4f 58 53 53 58 4d 08 58 4b 4f</a:t>
            </a:r>
            <a:endParaRPr lang="ru-RU" dirty="0"/>
          </a:p>
          <a:p>
            <a:pPr algn="ctr"/>
            <a:r>
              <a:rPr lang="ru-RU" dirty="0"/>
              <a:t>Расшифрованный сообщение алгоритм </a:t>
            </a:r>
            <a:r>
              <a:rPr lang="en-US" dirty="0" err="1"/>
              <a:t>xor</a:t>
            </a:r>
            <a:r>
              <a:rPr lang="en-US" dirty="0"/>
              <a:t> </a:t>
            </a:r>
            <a:r>
              <a:rPr lang="ru-RU" dirty="0"/>
              <a:t>(ключ  </a:t>
            </a:r>
            <a:r>
              <a:rPr lang="en-US" dirty="0"/>
              <a:t>0x2a</a:t>
            </a:r>
            <a:r>
              <a:rPr lang="ru-RU" dirty="0"/>
              <a:t>)</a:t>
            </a:r>
            <a:endParaRPr lang="en-US" dirty="0"/>
          </a:p>
          <a:p>
            <a:pPr algn="ctr"/>
            <a:r>
              <a:rPr lang="en-US" dirty="0" err="1"/>
              <a:t>vc`yr”eryyrg”rae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4860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ACD29-5B2E-E639-B196-7B0EA4D5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EFED-2666-B0CD-73A6-D06F3FF3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Дизассемблированный код в </a:t>
            </a:r>
            <a:r>
              <a:rPr lang="en-US" dirty="0" err="1"/>
              <a:t>Ghidra</a:t>
            </a:r>
            <a:r>
              <a:rPr lang="ru-RU" dirty="0"/>
              <a:t> (4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774CE-5DB9-2DAE-4535-7825D237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20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4F24F8D-880A-DF7F-27F5-1D5EA0518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13" y="1406106"/>
            <a:ext cx="5411369" cy="37725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B39F91-60D9-59F1-3830-49574F121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410" y="1406106"/>
            <a:ext cx="4936008" cy="35183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1E5F95F-D51A-0640-E19D-EC47C85C0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410" y="4924435"/>
            <a:ext cx="5613496" cy="191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53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/>
              <a:t>Декомпилированный код в </a:t>
            </a:r>
            <a:r>
              <a:rPr lang="en-US" dirty="0" err="1"/>
              <a:t>Ghidra</a:t>
            </a:r>
            <a:r>
              <a:rPr lang="ru-RU" dirty="0"/>
              <a:t> (1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E0AAABE-ECCB-5BA6-AF80-C43B601C2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1896"/>
            <a:ext cx="5101307" cy="4538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C854F6-F783-FA61-37ED-B5B18B80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507" y="1611896"/>
            <a:ext cx="5101308" cy="461607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067415-CA68-7395-6B01-8292A9CC7D26}"/>
              </a:ext>
            </a:extLst>
          </p:cNvPr>
          <p:cNvSpPr/>
          <p:nvPr/>
        </p:nvSpPr>
        <p:spPr>
          <a:xfrm>
            <a:off x="6162261" y="3530379"/>
            <a:ext cx="1256306" cy="1590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5B4BB-B3EF-E06C-8571-C60EF3C711F6}"/>
              </a:ext>
            </a:extLst>
          </p:cNvPr>
          <p:cNvSpPr txBox="1"/>
          <p:nvPr/>
        </p:nvSpPr>
        <p:spPr>
          <a:xfrm>
            <a:off x="7775175" y="3479087"/>
            <a:ext cx="6094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Компоненты стандартной библиотеки </a:t>
            </a:r>
            <a:r>
              <a:rPr lang="en-US" sz="1050" dirty="0" err="1"/>
              <a:t>c++</a:t>
            </a:r>
            <a:r>
              <a:rPr lang="en-US" sz="1050" dirty="0"/>
              <a:t> </a:t>
            </a:r>
            <a:r>
              <a:rPr lang="ru-RU" sz="1050" dirty="0"/>
              <a:t>(</a:t>
            </a:r>
            <a:r>
              <a:rPr lang="en-US" sz="1050" dirty="0"/>
              <a:t>STL)</a:t>
            </a:r>
            <a:endParaRPr lang="ru-RU" sz="10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DB195A-A707-8F3B-4D53-26CA9CB3533B}"/>
              </a:ext>
            </a:extLst>
          </p:cNvPr>
          <p:cNvSpPr/>
          <p:nvPr/>
        </p:nvSpPr>
        <p:spPr>
          <a:xfrm>
            <a:off x="6162261" y="5178904"/>
            <a:ext cx="4878552" cy="97165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E7D0B-E4E9-FD2A-1436-B290A4F6A6BB}"/>
              </a:ext>
            </a:extLst>
          </p:cNvPr>
          <p:cNvSpPr txBox="1"/>
          <p:nvPr/>
        </p:nvSpPr>
        <p:spPr>
          <a:xfrm>
            <a:off x="8305126" y="6089474"/>
            <a:ext cx="4794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21 в 10 – </a:t>
            </a:r>
            <a:r>
              <a:rPr lang="ru-RU" sz="1200" dirty="0" err="1"/>
              <a:t>ичной</a:t>
            </a:r>
            <a:r>
              <a:rPr lang="ru-RU" sz="1200" dirty="0"/>
              <a:t> системе счисления это 33</a:t>
            </a:r>
          </a:p>
        </p:txBody>
      </p:sp>
    </p:spTree>
    <p:extLst>
      <p:ext uri="{BB962C8B-B14F-4D97-AF65-F5344CB8AC3E}">
        <p14:creationId xmlns:p14="http://schemas.microsoft.com/office/powerpoint/2010/main" val="214381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Декомпилированный код в </a:t>
            </a:r>
            <a:r>
              <a:rPr lang="en-US" dirty="0" err="1"/>
              <a:t>Ghidra</a:t>
            </a:r>
            <a:r>
              <a:rPr lang="ru-RU" dirty="0"/>
              <a:t> (2 часть)</a:t>
            </a:r>
            <a:r>
              <a:rPr lang="en-US" dirty="0"/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B130C2E-AFE4-4D00-EF19-4C8A16CBD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492990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CD0726-05AC-D842-77AA-04852D972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108" y="2498350"/>
            <a:ext cx="4490284" cy="3050337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B59FBE-3CDC-B839-DD5A-6C15F1B5F4E2}"/>
              </a:ext>
            </a:extLst>
          </p:cNvPr>
          <p:cNvSpPr/>
          <p:nvPr/>
        </p:nvSpPr>
        <p:spPr>
          <a:xfrm>
            <a:off x="1081377" y="2560320"/>
            <a:ext cx="1653872" cy="12722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1D1CD-CDF2-D4A7-A86C-DE4C52E52C74}"/>
              </a:ext>
            </a:extLst>
          </p:cNvPr>
          <p:cNvSpPr txBox="1"/>
          <p:nvPr/>
        </p:nvSpPr>
        <p:spPr>
          <a:xfrm>
            <a:off x="3840480" y="2498349"/>
            <a:ext cx="2019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Компоненты стандартной библиотеки </a:t>
            </a:r>
            <a:r>
              <a:rPr lang="en-US" sz="1050" dirty="0" err="1"/>
              <a:t>c++</a:t>
            </a:r>
            <a:r>
              <a:rPr lang="en-US" sz="1050" dirty="0"/>
              <a:t> </a:t>
            </a:r>
            <a:r>
              <a:rPr lang="ru-RU" sz="1050" dirty="0"/>
              <a:t>(</a:t>
            </a:r>
            <a:r>
              <a:rPr lang="en-US" sz="1050" dirty="0"/>
              <a:t>STL)</a:t>
            </a:r>
            <a:endParaRPr lang="ru-RU" sz="10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B75024-184E-7C29-569E-786ADE1E6AF7}"/>
              </a:ext>
            </a:extLst>
          </p:cNvPr>
          <p:cNvSpPr/>
          <p:nvPr/>
        </p:nvSpPr>
        <p:spPr>
          <a:xfrm>
            <a:off x="1081377" y="3807418"/>
            <a:ext cx="2910177" cy="7260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56B178-5F90-15AB-F28D-3AC26592928F}"/>
              </a:ext>
            </a:extLst>
          </p:cNvPr>
          <p:cNvSpPr txBox="1"/>
          <p:nvPr/>
        </p:nvSpPr>
        <p:spPr>
          <a:xfrm>
            <a:off x="3991553" y="3807417"/>
            <a:ext cx="1598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13 в 10 </a:t>
            </a:r>
            <a:r>
              <a:rPr lang="ru-RU" sz="1100" dirty="0" err="1"/>
              <a:t>ичной</a:t>
            </a:r>
            <a:r>
              <a:rPr lang="ru-RU" sz="1100" dirty="0"/>
              <a:t> системе счисления это 19</a:t>
            </a:r>
          </a:p>
        </p:txBody>
      </p:sp>
    </p:spTree>
    <p:extLst>
      <p:ext uri="{BB962C8B-B14F-4D97-AF65-F5344CB8AC3E}">
        <p14:creationId xmlns:p14="http://schemas.microsoft.com/office/powerpoint/2010/main" val="3288595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15627-ACC0-421E-134B-38BC8FA8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 вызовов функций в </a:t>
            </a:r>
            <a:r>
              <a:rPr lang="en-US"/>
              <a:t>Ghidra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3CD34F1-3156-E5AD-C1BA-9CED0425D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8197"/>
            <a:ext cx="10515600" cy="314619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6F858D-6D6D-D8D3-1AB8-264DDD4A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39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61DEE-A3A2-0352-C364-4767B1A2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88EFC-93B1-F09C-55F8-8E882C33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E6D991-0EEB-5FF4-00A2-1C3C3D98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24</a:t>
            </a:fld>
            <a:endParaRPr lang="ru-RU"/>
          </a:p>
        </p:txBody>
      </p:sp>
      <p:pic>
        <p:nvPicPr>
          <p:cNvPr id="5" name="Объект 5">
            <a:extLst>
              <a:ext uri="{FF2B5EF4-FFF2-40B4-BE49-F238E27FC236}">
                <a16:creationId xmlns:a16="http://schemas.microsoft.com/office/drawing/2014/main" id="{F55250C1-1FEA-FB19-D598-52EE0795E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11" y="2758440"/>
            <a:ext cx="11002178" cy="187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5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4638</TotalTime>
  <Words>517</Words>
  <Application>Microsoft Office PowerPoint</Application>
  <PresentationFormat>Широкоэкранный</PresentationFormat>
  <Paragraphs>136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normal Helvetica</vt:lpstr>
      <vt:lpstr>Times New Roman</vt:lpstr>
      <vt:lpstr>Office Theme</vt:lpstr>
      <vt:lpstr>Отчёт по лабораторной работе №5</vt:lpstr>
      <vt:lpstr>Результат выполнения файла  1.exe</vt:lpstr>
      <vt:lpstr>Hex dump в 010 editor </vt:lpstr>
      <vt:lpstr>Энтропия в 010 editor (5.3720)</vt:lpstr>
      <vt:lpstr>Гистограмма в 010 editor</vt:lpstr>
      <vt:lpstr>Информация о файле в radare 2</vt:lpstr>
      <vt:lpstr>Граф main в radare 2</vt:lpstr>
      <vt:lpstr>Граф main в radare 2</vt:lpstr>
      <vt:lpstr>Граф main в radare 2</vt:lpstr>
      <vt:lpstr>Граф main в radare 2</vt:lpstr>
      <vt:lpstr>ФУНКЦИЯ main</vt:lpstr>
      <vt:lpstr>fcn.1400011c0</vt:lpstr>
      <vt:lpstr>Разгадка пароля</vt:lpstr>
      <vt:lpstr>Вывод сообщения при вводе</vt:lpstr>
      <vt:lpstr>Дизассемблированный код в Ghidra (1 часть) </vt:lpstr>
      <vt:lpstr>Дизассемблированный код в Ghidra (2 часть) </vt:lpstr>
      <vt:lpstr>Адреса 0x140003440 и 0x140003430</vt:lpstr>
      <vt:lpstr>Дизассемблированный код в Ghidra (3 часть) </vt:lpstr>
      <vt:lpstr>Адрес 140003450</vt:lpstr>
      <vt:lpstr>Дизассемблированный код в Ghidra (4 часть) </vt:lpstr>
      <vt:lpstr>Декомпилированный код в Ghidra (1 часть) </vt:lpstr>
      <vt:lpstr>Декомпилированный код в Ghidra (2 часть) </vt:lpstr>
      <vt:lpstr>Граф вызовов функций в Ghidra</vt:lpstr>
      <vt:lpstr>Вывод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Егор Королёв</dc:creator>
  <cp:lastModifiedBy>Иконников Илья Сергеевич</cp:lastModifiedBy>
  <cp:revision>27</cp:revision>
  <dcterms:created xsi:type="dcterms:W3CDTF">2026-04-14T20:09:30Z</dcterms:created>
  <dcterms:modified xsi:type="dcterms:W3CDTF">2026-04-30T10:58:13Z</dcterms:modified>
</cp:coreProperties>
</file>