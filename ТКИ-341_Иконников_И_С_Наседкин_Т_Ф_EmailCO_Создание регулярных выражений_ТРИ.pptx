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7" r:id="rId2"/>
    <p:sldId id="328" r:id="rId3"/>
    <p:sldId id="259" r:id="rId4"/>
    <p:sldId id="281" r:id="rId5"/>
    <p:sldId id="286" r:id="rId6"/>
    <p:sldId id="282" r:id="rId7"/>
    <p:sldId id="287" r:id="rId8"/>
    <p:sldId id="283" r:id="rId9"/>
    <p:sldId id="285" r:id="rId10"/>
    <p:sldId id="28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82" autoAdjust="0"/>
  </p:normalViewPr>
  <p:slideViewPr>
    <p:cSldViewPr snapToGrid="0">
      <p:cViewPr varScale="1">
        <p:scale>
          <a:sx n="120" d="100"/>
          <a:sy n="120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C6B7-494F-92C7-EBF8-405FD1FE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6CF7F8E8-DE09-7F1B-B7DA-FE6739A98D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9E6ED1A-5535-82AE-83B7-29C6A35F09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B2CE3F4-037F-5259-469D-A5BD5244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6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23.04.2026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23.04.2026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user!name@mail.co" TargetMode="External"/><Relationship Id="rId2" Type="http://schemas.openxmlformats.org/officeDocument/2006/relationships/hyperlink" Target="mailto:service@internal.c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Иконников И.С.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Наседкин Т.Ф.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18EE-9F0D-D35A-1A74-8A9CCCF5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23B00D0-B7C8-9967-E8BE-A5D3476713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0A90A14-B378-EE29-C717-B8D7B2D439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918DE5A-CE5D-5E82-CEFB-A56C2895E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133910A-2C99-F7FB-2B51-A14830F12A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0B3D9B5-41BB-EDC5-B600-28A96EC40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70FC40E-6489-90BF-66A9-AF0072D269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31E3F8-9886-9AFE-D084-B33D88BA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43AE4-9548-BB5C-4ED6-9FF8351FDEFD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Оглавление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1CFCB-76BA-E27F-5DFA-4A4CF0DC44A6}"/>
              </a:ext>
            </a:extLst>
          </p:cNvPr>
          <p:cNvSpPr txBox="1"/>
          <p:nvPr/>
        </p:nvSpPr>
        <p:spPr>
          <a:xfrm>
            <a:off x="828675" y="1404594"/>
            <a:ext cx="75727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r>
              <a:rPr lang="en-US" dirty="0"/>
              <a:t>…………………………………………………………………. </a:t>
            </a:r>
            <a:r>
              <a:rPr lang="ru-RU" dirty="0"/>
              <a:t>3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  <a:r>
              <a:rPr lang="en-US" dirty="0"/>
              <a:t>……………………………………………………………………………</a:t>
            </a:r>
            <a:r>
              <a:rPr lang="ru-RU" dirty="0"/>
              <a:t>…….</a:t>
            </a:r>
            <a:r>
              <a:rPr lang="en-US" dirty="0"/>
              <a:t>.. 4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файл</a:t>
            </a:r>
            <a:r>
              <a:rPr lang="en-US" dirty="0"/>
              <a:t>………………………………………………………</a:t>
            </a:r>
            <a:r>
              <a:rPr lang="ru-RU" dirty="0"/>
              <a:t>………………………….</a:t>
            </a:r>
            <a:r>
              <a:rPr lang="en-US" dirty="0"/>
              <a:t>…. 5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dirty="0"/>
              <a:t>…………………………………………………………</a:t>
            </a:r>
            <a:r>
              <a:rPr lang="ru-RU" dirty="0"/>
              <a:t>……………………………………..</a:t>
            </a:r>
            <a:r>
              <a:rPr lang="en-US" dirty="0"/>
              <a:t>. 6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unique_emails = list(dict.fromkeys(emails)) </a:t>
            </a:r>
            <a:r>
              <a:rPr lang="en-US" dirty="0"/>
              <a:t>………………</a:t>
            </a:r>
            <a:r>
              <a:rPr lang="ru-RU" dirty="0"/>
              <a:t>.</a:t>
            </a:r>
            <a:r>
              <a:rPr lang="en-US" dirty="0"/>
              <a:t>………… 7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 программы </a:t>
            </a:r>
            <a:r>
              <a:rPr lang="en-US" dirty="0"/>
              <a:t>…………………………………</a:t>
            </a:r>
            <a:r>
              <a:rPr lang="ru-RU" dirty="0"/>
              <a:t>…….</a:t>
            </a:r>
            <a:r>
              <a:rPr lang="en-US" dirty="0"/>
              <a:t>…………….. </a:t>
            </a:r>
            <a:r>
              <a:rPr lang="ru-RU" dirty="0"/>
              <a:t>8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  <a:r>
              <a:rPr lang="en-US" dirty="0"/>
              <a:t> ………………………………………………………………………………………………… </a:t>
            </a:r>
            <a:r>
              <a:rPr lang="ru-RU" dirty="0"/>
              <a:t>9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lang="en-US" dirty="0"/>
              <a:t>………………………………………………………………………………………………… 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5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символов, которая задаёт шаблон поиска в текстовых строках (для этого используется специальный синтаксис описания маски)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 нужны, чтобы: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шаблону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информации 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текста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4D9E-8AD3-3656-33F4-5B5271D3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dev.txt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(3.9 Мб) – это большой текстовый файл, содержащий смешанные данные (адреса, даты, города и т.д.).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варианте (13) требуется найти адреса электронных почт заканчивающихся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CF160D-0F38-203A-4817-BDE0E712F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83529"/>
            <a:ext cx="597300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файл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D24AC9D-2292-BECD-1319-919845AB3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30607"/>
            <a:ext cx="9043359" cy="5590868"/>
          </a:xfrm>
        </p:spPr>
      </p:pic>
    </p:spTree>
    <p:extLst>
      <p:ext uri="{BB962C8B-B14F-4D97-AF65-F5344CB8AC3E}">
        <p14:creationId xmlns:p14="http://schemas.microsoft.com/office/powerpoint/2010/main" val="29723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BC5-B56D-988D-BA53-B1640E9A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51" y="-161133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66C1-FE37-48B9-15E4-4A0087AC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51" y="880857"/>
            <a:ext cx="5021375" cy="58406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1" dirty="0"/>
              <a:t>r </a:t>
            </a:r>
            <a:r>
              <a:rPr lang="en-US" sz="1100" dirty="0"/>
              <a:t>- </a:t>
            </a:r>
            <a:r>
              <a:rPr lang="ru-RU" sz="1100" dirty="0"/>
              <a:t>при написании регулярных выражений, так как он делает код чище и защищает от ошибок распознавания специальных символов.</a:t>
            </a:r>
            <a:endParaRPr lang="ru-RU" sz="1600" dirty="0"/>
          </a:p>
          <a:p>
            <a:pPr marL="0" indent="0">
              <a:buNone/>
            </a:pPr>
            <a:r>
              <a:rPr lang="en-US" sz="1100" b="1" dirty="0"/>
              <a:t>[a-zA-Z0-9._%+-]+</a:t>
            </a:r>
            <a:r>
              <a:rPr lang="ru-RU" sz="1600" b="1" dirty="0"/>
              <a:t> </a:t>
            </a:r>
            <a:r>
              <a:rPr lang="ru-RU" sz="1100" b="1" dirty="0"/>
              <a:t> </a:t>
            </a:r>
            <a:r>
              <a:rPr lang="ru-RU" sz="1100" dirty="0"/>
              <a:t>(Локальная часть адреса (имя пользователя)).</a:t>
            </a:r>
          </a:p>
          <a:p>
            <a:pPr marL="0" indent="0">
              <a:buNone/>
            </a:pPr>
            <a:r>
              <a:rPr lang="ru-RU" sz="1100" b="1" dirty="0"/>
              <a:t>[ ] </a:t>
            </a:r>
            <a:r>
              <a:rPr lang="ru-RU" sz="1100" dirty="0"/>
              <a:t>— определяет набор допустимых символов.</a:t>
            </a:r>
          </a:p>
          <a:p>
            <a:pPr marL="0" indent="0">
              <a:buNone/>
            </a:pPr>
            <a:r>
              <a:rPr lang="en-US" sz="1100" b="1" dirty="0"/>
              <a:t>a-zA-Z0-9</a:t>
            </a:r>
            <a:r>
              <a:rPr lang="ru-RU" sz="1100" dirty="0"/>
              <a:t> — латинские буквы любого регистра и цифры.</a:t>
            </a:r>
          </a:p>
          <a:p>
            <a:pPr marL="0" indent="0">
              <a:buNone/>
            </a:pPr>
            <a:r>
              <a:rPr lang="ru-RU" sz="1100" b="1" dirty="0"/>
              <a:t>._%+-</a:t>
            </a:r>
            <a:r>
              <a:rPr lang="ru-RU" sz="1100" dirty="0"/>
              <a:t> — разрешенные спецсимволы, которые часто встречаются в почтовых именах.</a:t>
            </a:r>
          </a:p>
          <a:p>
            <a:pPr marL="0" indent="0">
              <a:buNone/>
            </a:pPr>
            <a:r>
              <a:rPr lang="ru-RU" sz="1100" b="1" dirty="0"/>
              <a:t>+ </a:t>
            </a:r>
            <a:r>
              <a:rPr lang="ru-RU" sz="1100" dirty="0"/>
              <a:t>— квантификатор «один или более», гарантирует, что имя пользователя не будет пустым.</a:t>
            </a:r>
          </a:p>
          <a:p>
            <a:pPr marL="0" indent="0">
              <a:buNone/>
            </a:pPr>
            <a:r>
              <a:rPr lang="ru-RU" sz="1100" b="1" dirty="0"/>
              <a:t>@</a:t>
            </a:r>
            <a:r>
              <a:rPr lang="ru-RU" sz="1100" dirty="0"/>
              <a:t> — Символ-разделитель («собака»).</a:t>
            </a:r>
          </a:p>
          <a:p>
            <a:pPr marL="0" indent="0">
              <a:buNone/>
            </a:pPr>
            <a:r>
              <a:rPr lang="en-US" sz="1100" b="1" dirty="0"/>
              <a:t>[a-zA-Z0-9.-]+</a:t>
            </a:r>
            <a:r>
              <a:rPr lang="ru-RU" sz="1100" dirty="0"/>
              <a:t> — Домен второго уровня (провайдер или </a:t>
            </a:r>
            <a:r>
              <a:rPr lang="ru-RU" sz="1100" dirty="0" err="1"/>
              <a:t>поддомены</a:t>
            </a:r>
            <a:r>
              <a:rPr lang="ru-RU" sz="1100" dirty="0"/>
              <a:t>).</a:t>
            </a:r>
          </a:p>
          <a:p>
            <a:pPr marL="0" indent="0">
              <a:buNone/>
            </a:pPr>
            <a:r>
              <a:rPr lang="ru-RU" sz="1100" b="1" dirty="0"/>
              <a:t>+</a:t>
            </a:r>
            <a:r>
              <a:rPr lang="ru-RU" sz="1100" dirty="0"/>
              <a:t>  — требует наличия хотя бы одного символа в названии домена.</a:t>
            </a:r>
          </a:p>
          <a:p>
            <a:pPr marL="0" indent="0">
              <a:buNone/>
            </a:pPr>
            <a:r>
              <a:rPr lang="en-US" sz="1100" b="1" dirty="0"/>
              <a:t>\.co</a:t>
            </a:r>
            <a:r>
              <a:rPr lang="ru-RU" sz="1100" b="1" dirty="0"/>
              <a:t> </a:t>
            </a:r>
            <a:r>
              <a:rPr lang="ru-RU" sz="1100" dirty="0"/>
              <a:t>— Домен верхнего уровня (</a:t>
            </a:r>
            <a:r>
              <a:rPr lang="en-US" sz="1100" dirty="0"/>
              <a:t>TLD).</a:t>
            </a:r>
            <a:endParaRPr lang="ru-RU" sz="1100" dirty="0"/>
          </a:p>
          <a:p>
            <a:pPr marL="0" indent="0">
              <a:buNone/>
            </a:pPr>
            <a:r>
              <a:rPr lang="ru-RU" sz="1100" b="1" dirty="0"/>
              <a:t>\. </a:t>
            </a:r>
            <a:r>
              <a:rPr lang="ru-RU" sz="1100" dirty="0"/>
              <a:t>— точка является спецсимволом в регулярных выражениях («любой символ»), поэтому мы используем обратный слэш для экранирования, чтобы искать именно текстовый символ точки.</a:t>
            </a:r>
          </a:p>
          <a:p>
            <a:pPr marL="0" indent="0">
              <a:buNone/>
            </a:pPr>
            <a:r>
              <a:rPr lang="en-US" sz="1100" b="1" dirty="0"/>
              <a:t>Co</a:t>
            </a:r>
            <a:r>
              <a:rPr lang="ru-RU" sz="1100" dirty="0"/>
              <a:t> — фиксированная часть строки для поиска конкретно домена </a:t>
            </a:r>
            <a:r>
              <a:rPr lang="en-US" sz="1100" dirty="0"/>
              <a:t>.co </a:t>
            </a:r>
            <a:r>
              <a:rPr lang="ru-RU" sz="1100" dirty="0"/>
              <a:t>по 13 варианту</a:t>
            </a:r>
          </a:p>
          <a:p>
            <a:pPr marL="0" indent="0">
              <a:buNone/>
            </a:pPr>
            <a:r>
              <a:rPr lang="en-US" sz="1100" b="1" dirty="0"/>
              <a:t>\b</a:t>
            </a:r>
            <a:r>
              <a:rPr lang="ru-RU" sz="1100" dirty="0"/>
              <a:t> - Граница слова (</a:t>
            </a:r>
            <a:r>
              <a:rPr lang="en-US" sz="1100" dirty="0"/>
              <a:t>Word Boundary).</a:t>
            </a:r>
            <a:r>
              <a:rPr lang="ru-RU" sz="1100" dirty="0"/>
              <a:t> предотвращает частичное совпадение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4A65-D55E-6252-DC10-51BBACF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3DC7FD-3E90-B0EF-71C7-73C676126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433" y="880857"/>
            <a:ext cx="6986333" cy="558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3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1F38-A016-EDC6-4273-F2CF043D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F4DA-5A5D-3866-8E11-D719028F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51" y="197110"/>
            <a:ext cx="11962949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unique_emails = list(dict.fromkeys(emails))</a:t>
            </a:r>
            <a:br>
              <a:rPr lang="fr-FR" dirty="0"/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5A66-21E3-0B8C-0D39-829925524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51" y="1118721"/>
            <a:ext cx="4941465" cy="571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 err="1"/>
              <a:t>dict.fromkeys</a:t>
            </a:r>
            <a:r>
              <a:rPr lang="en-US" sz="1200" dirty="0"/>
              <a:t>(emails)</a:t>
            </a:r>
            <a:r>
              <a:rPr lang="ru-RU" sz="1200" dirty="0"/>
              <a:t> </a:t>
            </a:r>
          </a:p>
          <a:p>
            <a:pPr marL="0" indent="0">
              <a:buNone/>
            </a:pPr>
            <a:r>
              <a:rPr lang="ru-RU" sz="1200" dirty="0"/>
              <a:t>- Это вызов </a:t>
            </a:r>
            <a:r>
              <a:rPr lang="ru-RU" sz="1200" b="1" dirty="0"/>
              <a:t>классового метода</a:t>
            </a:r>
            <a:r>
              <a:rPr lang="ru-RU" sz="1200" dirty="0"/>
              <a:t> </a:t>
            </a:r>
            <a:r>
              <a:rPr lang="ru-RU" sz="1200" dirty="0" err="1"/>
              <a:t>fromkeys</a:t>
            </a:r>
            <a:r>
              <a:rPr lang="ru-RU" sz="1200" dirty="0"/>
              <a:t> у типа </a:t>
            </a:r>
            <a:r>
              <a:rPr lang="ru-RU" sz="1200" dirty="0" err="1"/>
              <a:t>dict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r>
              <a:rPr lang="ru-RU" sz="1200" dirty="0"/>
              <a:t>- Метод принимает итерируемый объект (</a:t>
            </a:r>
            <a:r>
              <a:rPr lang="ru-RU" sz="1200" dirty="0" err="1"/>
              <a:t>emails</a:t>
            </a:r>
            <a:r>
              <a:rPr lang="ru-RU" sz="1200" dirty="0"/>
              <a:t> – список строк) и создаёт </a:t>
            </a:r>
            <a:r>
              <a:rPr lang="ru-RU" sz="1200" b="1" dirty="0"/>
              <a:t>новый словарь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r>
              <a:rPr lang="ru-RU" sz="1200" dirty="0"/>
              <a:t>- Ключами словаря становятся элементы из </a:t>
            </a:r>
            <a:r>
              <a:rPr lang="ru-RU" sz="1200" dirty="0" err="1"/>
              <a:t>emails</a:t>
            </a:r>
            <a:r>
              <a:rPr lang="ru-RU" sz="1200" dirty="0"/>
              <a:t> (каждый уникальный элемент – один ключ).</a:t>
            </a:r>
            <a:endParaRPr lang="ru-RU" dirty="0"/>
          </a:p>
          <a:p>
            <a:pPr marL="0" indent="0">
              <a:buNone/>
            </a:pPr>
            <a:r>
              <a:rPr lang="ru-RU" sz="1200" dirty="0"/>
              <a:t>- Поскольку в словаре не может быть двух одинаковых ключей, </a:t>
            </a:r>
            <a:r>
              <a:rPr lang="ru-RU" sz="1200" b="1" dirty="0"/>
              <a:t>дубликаты автоматически отбрасываются</a:t>
            </a:r>
            <a:r>
              <a:rPr lang="ru-RU" sz="1200" dirty="0"/>
              <a:t> – остаётся только первое вхождение каждого уникального </a:t>
            </a:r>
            <a:r>
              <a:rPr lang="ru-RU" sz="1200" dirty="0" err="1"/>
              <a:t>email</a:t>
            </a:r>
            <a:r>
              <a:rPr lang="ru-RU" sz="1200" dirty="0"/>
              <a:t>-а.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en-US" sz="1200" dirty="0"/>
              <a:t>list(...)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- Функция </a:t>
            </a:r>
            <a:r>
              <a:rPr lang="ru-RU" sz="1200" dirty="0" err="1"/>
              <a:t>list</a:t>
            </a:r>
            <a:r>
              <a:rPr lang="ru-RU" sz="1200" dirty="0"/>
              <a:t>() принимает итерируемый объект (словарь, созданный на предыдущем шаге) и создаёт из него </a:t>
            </a:r>
            <a:r>
              <a:rPr lang="ru-RU" sz="1200" b="1" dirty="0"/>
              <a:t>новый список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r>
              <a:rPr lang="ru-RU" sz="1200" dirty="0"/>
              <a:t>- При итерировании по словарю по умолчанию возвращаются его </a:t>
            </a:r>
            <a:r>
              <a:rPr lang="ru-RU" sz="1200" b="1" dirty="0"/>
              <a:t>ключи</a:t>
            </a:r>
            <a:r>
              <a:rPr lang="ru-RU" sz="1200" dirty="0"/>
              <a:t> (</a:t>
            </a:r>
            <a:r>
              <a:rPr lang="ru-RU" sz="1200" dirty="0" err="1"/>
              <a:t>email</a:t>
            </a:r>
            <a:r>
              <a:rPr lang="ru-RU" sz="1200" dirty="0"/>
              <a:t>-ы).</a:t>
            </a:r>
          </a:p>
          <a:p>
            <a:pPr marL="0" indent="0">
              <a:buNone/>
            </a:pPr>
            <a:r>
              <a:rPr lang="ru-RU" sz="1200" dirty="0"/>
              <a:t>- В итоге получается список, содержащий все ключи словаря – то есть </a:t>
            </a:r>
            <a:r>
              <a:rPr lang="ru-RU" sz="1200" b="1" dirty="0"/>
              <a:t>уникальные </a:t>
            </a:r>
            <a:r>
              <a:rPr lang="ru-RU" sz="1200" b="1" dirty="0" err="1"/>
              <a:t>email</a:t>
            </a:r>
            <a:r>
              <a:rPr lang="ru-RU" sz="1200" b="1" dirty="0"/>
              <a:t>-ы</a:t>
            </a:r>
            <a:r>
              <a:rPr lang="ru-RU" sz="1200" dirty="0"/>
              <a:t> в том порядке, в котором они впервые встретились в исходном списке </a:t>
            </a:r>
            <a:r>
              <a:rPr lang="ru-RU" sz="1200" dirty="0" err="1"/>
              <a:t>emails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224E-69A9-B079-AD88-711C6C35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093FC8-A06D-4AB1-056A-EE382A8E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9" t="56984" r="32251" b="39445"/>
          <a:stretch>
            <a:fillRect/>
          </a:stretch>
        </p:blipFill>
        <p:spPr>
          <a:xfrm>
            <a:off x="5170516" y="3067397"/>
            <a:ext cx="6869084" cy="33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 программы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564406"/>
            <a:ext cx="664732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Реализованный код, позволяет посчитать общее кол-во почт (972). Всего было найдено 972, уникальных – 177. Для удобного предоставления полученных результатов в процессе выполнения кода создаётся отдельный файл с пронумерованным списком адресных почт</a:t>
            </a:r>
          </a:p>
          <a:p>
            <a:pPr marL="0" indent="0" algn="just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0F02D1-F394-4499-F3A6-7655AA50B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63"/>
          <a:stretch/>
        </p:blipFill>
        <p:spPr>
          <a:xfrm>
            <a:off x="169933" y="1350159"/>
            <a:ext cx="6458013" cy="7861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6D924D-14EE-DC7C-D334-EDD8F7088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5" y="2118253"/>
            <a:ext cx="6458851" cy="1905266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A23303F-1106-278D-FB18-9F0E37DB9A19}"/>
              </a:ext>
            </a:extLst>
          </p:cNvPr>
          <p:cNvSpPr/>
          <p:nvPr/>
        </p:nvSpPr>
        <p:spPr>
          <a:xfrm>
            <a:off x="228300" y="3271205"/>
            <a:ext cx="5971922" cy="31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799E4B-7157-C181-87CC-9369045DB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946" y="1444899"/>
            <a:ext cx="5116473" cy="5094013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F8F9D8-6669-55C7-2BEC-8D2649F119BC}"/>
              </a:ext>
            </a:extLst>
          </p:cNvPr>
          <p:cNvSpPr/>
          <p:nvPr/>
        </p:nvSpPr>
        <p:spPr>
          <a:xfrm>
            <a:off x="6975335" y="1917812"/>
            <a:ext cx="1270449" cy="21848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F0B3EF4-D571-4045-EFAE-F6772681072B}"/>
              </a:ext>
            </a:extLst>
          </p:cNvPr>
          <p:cNvSpPr/>
          <p:nvPr/>
        </p:nvSpPr>
        <p:spPr>
          <a:xfrm>
            <a:off x="7180027" y="2363422"/>
            <a:ext cx="1494845" cy="21848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49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4A24-8CCE-D17A-9BF3-D3835C142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019"/>
            <a:ext cx="10515600" cy="4537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первого рода (ложные срабатывания):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/>
              <a:t>Программа может извлечь строки, которые синтаксически похожи на </a:t>
            </a:r>
            <a:r>
              <a:rPr lang="ru-RU" dirty="0" err="1"/>
              <a:t>email</a:t>
            </a:r>
            <a:r>
              <a:rPr lang="ru-RU" dirty="0"/>
              <a:t>, но являются системными путями или фрагментами кода в файле </a:t>
            </a:r>
            <a:r>
              <a:rPr lang="en-US" dirty="0"/>
              <a:t>dev.txt</a:t>
            </a:r>
            <a:r>
              <a:rPr lang="ru-RU" dirty="0"/>
              <a:t> (например, </a:t>
            </a:r>
            <a:r>
              <a:rPr lang="en-US" dirty="0">
                <a:hlinkClick r:id="rId2"/>
              </a:rPr>
              <a:t>service@internal.co</a:t>
            </a:r>
            <a:r>
              <a:rPr lang="ru-RU" dirty="0"/>
              <a:t> который не является реальным почтовым ящиком).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/>
              <a:t>Ошибки второго рода (Пропуски): </a:t>
            </a:r>
          </a:p>
          <a:p>
            <a:pPr marL="0" indent="0">
              <a:buNone/>
            </a:pPr>
            <a:r>
              <a:rPr lang="ru-RU" dirty="0"/>
              <a:t>- Шаблон пропустит адреса, содержащие экзотические символы (например, </a:t>
            </a:r>
            <a:r>
              <a:rPr lang="en-US" dirty="0">
                <a:hlinkClick r:id="rId3"/>
              </a:rPr>
              <a:t>user!name@mail.co</a:t>
            </a:r>
            <a:r>
              <a:rPr lang="ru-RU" dirty="0"/>
              <a:t> или использование кавычек), так как они не включены в текущий набор разрешенных знаков ради стабильности поиска.)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25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EAFE-C983-93B5-4491-0974C75B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sz="2000" dirty="0"/>
              <a:t>В ходе выполнения работы было разработано регулярное выражение для поиска адресов электронной почты, зарегистрированных в доменной зоне </a:t>
            </a:r>
            <a:r>
              <a:rPr lang="en-US" sz="2000" dirty="0"/>
              <a:t>.co</a:t>
            </a:r>
            <a:r>
              <a:rPr lang="ru-RU" sz="2000" dirty="0"/>
              <a:t> в файле</a:t>
            </a:r>
            <a:r>
              <a:rPr lang="en-US" sz="2000" dirty="0"/>
              <a:t> dev.txt</a:t>
            </a:r>
            <a:r>
              <a:rPr lang="ru-RU" sz="2000" dirty="0"/>
              <a:t>.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sz="2000" dirty="0"/>
              <a:t>Итоговый скрипт на языке Python успешно обрабатывает входной файл объемом 4 Мб, автоматически устраняет дубликаты записей и формирует структурированный выходной файл </a:t>
            </a:r>
            <a:r>
              <a:rPr lang="en-US" sz="2000" dirty="0"/>
              <a:t>emails_co.txt</a:t>
            </a:r>
            <a:r>
              <a:rPr lang="ru-RU" sz="2000" dirty="0"/>
              <a:t>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sz="2000" dirty="0"/>
              <a:t>Установлено, что разработанный алгоритм минимизирует вероятность ошибок первого рода (ложных совпадений внутри текста). При этом выявлена возможность возникновения ошибок второго рода в случаях использования в адресе редких специальных символов.</a:t>
            </a:r>
          </a:p>
          <a:p>
            <a:pPr marL="0" indent="0" algn="just">
              <a:buNone/>
            </a:pPr>
            <a:r>
              <a:rPr lang="ru-RU" sz="2000" dirty="0"/>
              <a:t>4) Реализованный подход подтвердил эффективность регулярных выражений для автоматизированного сбора контактной информации из неструктурированных массивов данных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759</Words>
  <Application>Microsoft Office PowerPoint</Application>
  <PresentationFormat>Широкоэкранный</PresentationFormat>
  <Paragraphs>74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等线</vt:lpstr>
      <vt:lpstr>Aptos</vt:lpstr>
      <vt:lpstr>Arial</vt:lpstr>
      <vt:lpstr>Calibri</vt:lpstr>
      <vt:lpstr>Calibri Light</vt:lpstr>
      <vt:lpstr>Times New Roman</vt:lpstr>
      <vt:lpstr>Office Theme</vt:lpstr>
      <vt:lpstr>Отчёт по лабораторной работе №6</vt:lpstr>
      <vt:lpstr>Презентация PowerPoint</vt:lpstr>
      <vt:lpstr>Регулярные выражения (re)</vt:lpstr>
      <vt:lpstr>Входные данные</vt:lpstr>
      <vt:lpstr>Исходный файл</vt:lpstr>
      <vt:lpstr>Решение</vt:lpstr>
      <vt:lpstr>Решение: unique_emails = list(dict.fromkeys(emails)) </vt:lpstr>
      <vt:lpstr>Результат выполнения программы </vt:lpstr>
      <vt:lpstr>Ошибки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Наседкин Тимофей</dc:creator>
  <cp:lastModifiedBy>Иконников Илья Сергеевич</cp:lastModifiedBy>
  <cp:revision>21</cp:revision>
  <dcterms:created xsi:type="dcterms:W3CDTF">2026-04-14T20:09:30Z</dcterms:created>
  <dcterms:modified xsi:type="dcterms:W3CDTF">2026-04-23T07:35:27Z</dcterms:modified>
</cp:coreProperties>
</file>